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256032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8BDF8"/>
                </a:solidFill>
              </a:rPr>
              <a:t>APRESENTACAO EXECUTIVA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6858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EAF0F8"/>
                </a:solidFill>
              </a:rPr>
              <a:t>Harness Engineering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EAF0F8"/>
                </a:solidFill>
              </a:rPr>
              <a:t>para Copilot Agents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94360" y="2395728"/>
            <a:ext cx="6217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A8B3C7"/>
                </a:solidFill>
              </a:rPr>
              <a:t>Como organizar agents, contexto, validacao e evidencias para workflows de IA em software corporativo.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366760" y="2331720"/>
            <a:ext cx="777240" cy="0"/>
          </a:xfrm>
          <a:prstGeom prst="line">
            <a:avLst/>
          </a:prstGeom>
          <a:noFill/>
          <a:ln w="2794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0012680" y="2331720"/>
            <a:ext cx="640080" cy="0"/>
          </a:xfrm>
          <a:prstGeom prst="line">
            <a:avLst/>
          </a:prstGeom>
          <a:noFill/>
          <a:ln w="27940">
            <a:solidFill>
              <a:srgbClr val="34D399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7680960" y="1965960"/>
            <a:ext cx="1005840" cy="731520"/>
          </a:xfrm>
          <a:prstGeom prst="rect">
            <a:avLst/>
          </a:prstGeom>
          <a:solidFill>
            <a:srgbClr val="293548"/>
          </a:solidFill>
          <a:ln w="12700">
            <a:solidFill>
              <a:srgbClr val="29354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Agent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0" y="1865376"/>
            <a:ext cx="1005840" cy="93268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Harness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652760" y="1965960"/>
            <a:ext cx="1234440" cy="7315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Evidencia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629400" y="3657600"/>
            <a:ext cx="1325880" cy="5029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Constrain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183880" y="4343400"/>
            <a:ext cx="1143000" cy="5029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Inform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555480" y="3657600"/>
            <a:ext cx="1143000" cy="5029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Verify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183880" y="2962656"/>
            <a:ext cx="1143000" cy="50292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Correct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955280" y="3886200"/>
            <a:ext cx="228600" cy="457200"/>
          </a:xfrm>
          <a:prstGeom prst="line">
            <a:avLst/>
          </a:prstGeom>
          <a:noFill/>
          <a:ln w="15240">
            <a:solidFill>
              <a:srgbClr val="2A3B52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326880" y="4343400"/>
            <a:ext cx="228600" cy="-457200"/>
          </a:xfrm>
          <a:prstGeom prst="line">
            <a:avLst/>
          </a:prstGeom>
          <a:noFill/>
          <a:ln w="15240">
            <a:solidFill>
              <a:srgbClr val="2A3B52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555480" y="3611880"/>
            <a:ext cx="-228600" cy="-365760"/>
          </a:xfrm>
          <a:prstGeom prst="line">
            <a:avLst/>
          </a:prstGeom>
          <a:noFill/>
          <a:ln w="15240">
            <a:solidFill>
              <a:srgbClr val="2A3B52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183880" y="3246120"/>
            <a:ext cx="-228600" cy="411480"/>
          </a:xfrm>
          <a:prstGeom prst="line">
            <a:avLst/>
          </a:prstGeom>
          <a:noFill/>
          <a:ln w="15240">
            <a:solidFill>
              <a:srgbClr val="2A3B52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502920" y="652881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3C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Harness Engineering / Copilot Agents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8B3C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3891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Mapa da apresentacao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89611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8B3C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 conteudo foi reorganizado em blocos tecnicos, mantendo os assuntos do documento original.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77240" y="1417320"/>
            <a:ext cx="457200" cy="4572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81328" y="1380744"/>
            <a:ext cx="356616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Harness Engineering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81328" y="1645920"/>
            <a:ext cx="557784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A8B3C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Controle, contexto, validacao e correcao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" y="2258568"/>
            <a:ext cx="457200" cy="4572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81328" y="2221992"/>
            <a:ext cx="356616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Agents e orquestracao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81328" y="2487168"/>
            <a:ext cx="557784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A8B3C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Granularidade, routing e especialistas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7240" y="3099816"/>
            <a:ext cx="457200" cy="4572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81328" y="3063240"/>
            <a:ext cx="356616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Context Engineering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81328" y="3328416"/>
            <a:ext cx="557784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A8B3C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Camadas, low-token, reset e handoff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77240" y="3941064"/>
            <a:ext cx="457200" cy="45720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481328" y="3904488"/>
            <a:ext cx="356616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Patterns agenticos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81328" y="4169664"/>
            <a:ext cx="557784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A8B3C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Chaining, routing, workers, parallel e evaluator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77240" y="4782312"/>
            <a:ext cx="457200" cy="4572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5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81328" y="4745736"/>
            <a:ext cx="356616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Validacao e riscos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81328" y="5010912"/>
            <a:ext cx="557784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A8B3C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DoD, poor self-evaluation, Ralph loop e entropia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052560" y="1417320"/>
            <a:ext cx="0" cy="4069080"/>
          </a:xfrm>
          <a:prstGeom prst="line">
            <a:avLst/>
          </a:prstGeom>
          <a:noFill/>
          <a:ln w="25400">
            <a:solidFill>
              <a:srgbClr val="2A3B5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66760" y="1234440"/>
            <a:ext cx="1371600" cy="502920"/>
          </a:xfrm>
          <a:prstGeom prst="rect">
            <a:avLst/>
          </a:prstGeom>
          <a:solidFill>
            <a:srgbClr val="293548"/>
          </a:solidFill>
          <a:ln w="12700">
            <a:solidFill>
              <a:srgbClr val="29354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Controlar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366760" y="2103120"/>
            <a:ext cx="137160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Delegar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366760" y="2971800"/>
            <a:ext cx="1371600" cy="502920"/>
          </a:xfrm>
          <a:prstGeom prst="rect">
            <a:avLst/>
          </a:prstGeom>
          <a:solidFill>
            <a:srgbClr val="293548"/>
          </a:solidFill>
          <a:ln w="12700">
            <a:solidFill>
              <a:srgbClr val="29354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Comprimir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366760" y="3840480"/>
            <a:ext cx="137160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Resetar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366760" y="4709160"/>
            <a:ext cx="1371600" cy="502920"/>
          </a:xfrm>
          <a:prstGeom prst="rect">
            <a:avLst/>
          </a:prstGeom>
          <a:solidFill>
            <a:srgbClr val="293548"/>
          </a:solidFill>
          <a:ln w="12700">
            <a:solidFill>
              <a:srgbClr val="29354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Evidenciar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02920" y="652881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3C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Harness Engineering / Copilot Agents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8B3C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3891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Tese central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89611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8B3C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Agentes de IA precisam ser tratados como trabalhadores controlados por processo, nao apenas como modelos com prompt.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1463040" cy="8229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Prompt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solto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423160" y="2743200"/>
            <a:ext cx="1417320" cy="0"/>
          </a:xfrm>
          <a:prstGeom prst="line">
            <a:avLst/>
          </a:prstGeom>
          <a:noFill/>
          <a:ln w="22860">
            <a:solidFill>
              <a:srgbClr val="F87171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3840480" y="2331720"/>
            <a:ext cx="1645920" cy="822960"/>
          </a:xfrm>
          <a:prstGeom prst="rect">
            <a:avLst/>
          </a:prstGeom>
          <a:solidFill>
            <a:srgbClr val="293548"/>
          </a:solidFill>
          <a:ln w="12700">
            <a:solidFill>
              <a:srgbClr val="29354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Resposta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confiante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3675888"/>
            <a:ext cx="45720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A8B3C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Risco: o agente pode parecer correto sem ter validado o resultado.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1417320"/>
            <a:ext cx="1508760" cy="6400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Harness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178040" y="2148840"/>
            <a:ext cx="0" cy="64008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5577840" y="2816352"/>
            <a:ext cx="1417320" cy="685800"/>
          </a:xfrm>
          <a:prstGeom prst="rect">
            <a:avLst/>
          </a:prstGeom>
          <a:solidFill>
            <a:srgbClr val="293548"/>
          </a:solidFill>
          <a:ln w="12700">
            <a:solidFill>
              <a:srgbClr val="29354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Contexto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correto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60920" y="2816352"/>
            <a:ext cx="1417320" cy="685800"/>
          </a:xfrm>
          <a:prstGeom prst="rect">
            <a:avLst/>
          </a:prstGeom>
          <a:solidFill>
            <a:srgbClr val="293548"/>
          </a:solidFill>
          <a:ln w="12700">
            <a:solidFill>
              <a:srgbClr val="29354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Permissoes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limitadas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995160" y="3154680"/>
            <a:ext cx="365760" cy="0"/>
          </a:xfrm>
          <a:prstGeom prst="line">
            <a:avLst/>
          </a:prstGeom>
          <a:noFill/>
          <a:ln w="12700">
            <a:solidFill>
              <a:srgbClr val="2A3B52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074152" y="3502152"/>
            <a:ext cx="411480" cy="539496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291072" y="3502152"/>
            <a:ext cx="-411480" cy="539496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5806440" y="4041648"/>
            <a:ext cx="2697480" cy="7772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Testes, lint, CI,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criteria e evidencias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623560" y="5193792"/>
            <a:ext cx="475488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A8B3C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Resultado desejado: o agente so conclui quando existe evidencia verificavel.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02920" y="652881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3C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Harness Engineering / Copilot Agents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8B3C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3891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Harness Engineering: quatro capacidades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89611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8B3C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 sistema ao redor do agente deve restringir, informar, verificar e corrigir.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394960" y="3063240"/>
            <a:ext cx="1371600" cy="82296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AI Agent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828800" y="1508760"/>
            <a:ext cx="2148840" cy="84124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Constrain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Fronteiras arquiteturais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permissoes e dependencias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138160" y="1508760"/>
            <a:ext cx="2148840" cy="84124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Inform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Context map, docs,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ADRs e instructions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138160" y="4572000"/>
            <a:ext cx="2148840" cy="84124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Verify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Testes, lint, CI,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checklists e gates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828800" y="4572000"/>
            <a:ext cx="2148840" cy="84124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Correct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Feedback loops,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self-repair e reviews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977640" y="1920240"/>
            <a:ext cx="1371600" cy="1143000"/>
          </a:xfrm>
          <a:prstGeom prst="line">
            <a:avLst/>
          </a:prstGeom>
          <a:noFill/>
          <a:ln w="16510">
            <a:solidFill>
              <a:srgbClr val="2A3B52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138160" y="1920240"/>
            <a:ext cx="-1325880" cy="1143000"/>
          </a:xfrm>
          <a:prstGeom prst="line">
            <a:avLst/>
          </a:prstGeom>
          <a:noFill/>
          <a:ln w="16510">
            <a:solidFill>
              <a:srgbClr val="2A3B52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138160" y="4983480"/>
            <a:ext cx="-1325880" cy="-1124712"/>
          </a:xfrm>
          <a:prstGeom prst="line">
            <a:avLst/>
          </a:prstGeom>
          <a:noFill/>
          <a:ln w="16510">
            <a:solidFill>
              <a:srgbClr val="2A3B52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977640" y="4983480"/>
            <a:ext cx="1371600" cy="-1124712"/>
          </a:xfrm>
          <a:prstGeom prst="line">
            <a:avLst/>
          </a:prstGeom>
          <a:noFill/>
          <a:ln w="16510">
            <a:solidFill>
              <a:srgbClr val="2A3B52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960120" y="5806440"/>
            <a:ext cx="1024128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A8B3C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Principios: verification beats generation; trace everything; detect and break loops; reasoning estrategico; onboarding como novo integrante.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02920" y="652881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3C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Harness Engineering / Copilot Agents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8B3C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3891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Granularidade ideal de Agents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89611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8B3C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Crie um agent quando houver responsabilidade operacional, contrato de saida e permissao propria.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68680" y="1600200"/>
            <a:ext cx="1645920" cy="64008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Nao criar por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tecnologia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68680" y="2468880"/>
            <a:ext cx="1645920" cy="64008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Nao criar por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tela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68680" y="3337560"/>
            <a:ext cx="1645920" cy="64008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Nao criar por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camada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697480" y="2743200"/>
            <a:ext cx="1005840" cy="0"/>
          </a:xfrm>
          <a:prstGeom prst="line">
            <a:avLst/>
          </a:prstGeom>
          <a:noFill/>
          <a:ln w="2032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3703320" y="2331720"/>
            <a:ext cx="1828800" cy="8229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Agent separado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quando &gt;= 3 criterios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172200" y="1417320"/>
            <a:ext cx="2057400" cy="713232"/>
          </a:xfrm>
          <a:prstGeom prst="rect">
            <a:avLst/>
          </a:prstGeom>
          <a:solidFill>
            <a:srgbClr val="293548"/>
          </a:solidFill>
          <a:ln w="12700">
            <a:solidFill>
              <a:srgbClr val="29354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Contrato proprio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b="1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Artefato diferente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8595360" y="1417320"/>
            <a:ext cx="2057400" cy="713232"/>
          </a:xfrm>
          <a:prstGeom prst="rect">
            <a:avLst/>
          </a:prstGeom>
          <a:solidFill>
            <a:srgbClr val="293548"/>
          </a:solidFill>
          <a:ln w="12700">
            <a:solidFill>
              <a:srgbClr val="29354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Ferramentas proprias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b="1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Permissoes diferentes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6172200" y="2560320"/>
            <a:ext cx="2057400" cy="713232"/>
          </a:xfrm>
          <a:prstGeom prst="rect">
            <a:avLst/>
          </a:prstGeom>
          <a:solidFill>
            <a:srgbClr val="293548"/>
          </a:solidFill>
          <a:ln w="12700">
            <a:solidFill>
              <a:srgbClr val="29354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Contexto proprio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b="1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Instrucoes especificas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8595360" y="2560320"/>
            <a:ext cx="2057400" cy="713232"/>
          </a:xfrm>
          <a:prstGeom prst="rect">
            <a:avLst/>
          </a:prstGeom>
          <a:solidFill>
            <a:srgbClr val="293548"/>
          </a:solidFill>
          <a:ln w="12700">
            <a:solidFill>
              <a:srgbClr val="29354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Recorrencia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b="1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Tarefa frequente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6172200" y="3703320"/>
            <a:ext cx="2057400" cy="7132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Validacao propria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Build, lint, review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6309360" y="5102352"/>
            <a:ext cx="45720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A8B3C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Se nao atender, prefira: custom instruction, skill, prompt file ou etapa interna do orchestrator.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652881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3C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Harness Engineering / Copilot Agents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8B3C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3891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Agent, Skill, Instruction ou MCP?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89611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8B3C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Escolha o mecanismo pelo tipo de necessidade, nao pelo entusiasmo com agentes.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141732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Necessidade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395728" y="3035808"/>
            <a:ext cx="1307592" cy="-1545336"/>
          </a:xfrm>
          <a:prstGeom prst="line">
            <a:avLst/>
          </a:prstGeom>
          <a:noFill/>
          <a:ln w="1397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3703320" y="1234440"/>
            <a:ext cx="2057400" cy="530352"/>
          </a:xfrm>
          <a:prstGeom prst="rect">
            <a:avLst/>
          </a:prstGeom>
          <a:solidFill>
            <a:srgbClr val="293548"/>
          </a:solidFill>
          <a:ln w="12700">
            <a:solidFill>
              <a:srgbClr val="29354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Regra geral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do projeto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806440" y="1499616"/>
            <a:ext cx="914400" cy="0"/>
          </a:xfrm>
          <a:prstGeom prst="line">
            <a:avLst/>
          </a:prstGeom>
          <a:noFill/>
          <a:ln w="1397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6720840" y="1234440"/>
            <a:ext cx="2011680" cy="5303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.github/copilot-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instructions.md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395728" y="3035808"/>
            <a:ext cx="1307592" cy="-704088"/>
          </a:xfrm>
          <a:prstGeom prst="line">
            <a:avLst/>
          </a:prstGeom>
          <a:noFill/>
          <a:ln w="13970">
            <a:solidFill>
              <a:srgbClr val="34D399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3703320" y="2075688"/>
            <a:ext cx="2057400" cy="530352"/>
          </a:xfrm>
          <a:prstGeom prst="rect">
            <a:avLst/>
          </a:prstGeom>
          <a:solidFill>
            <a:srgbClr val="293548"/>
          </a:solidFill>
          <a:ln w="12700">
            <a:solidFill>
              <a:srgbClr val="29354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Procedimento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especifico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806440" y="2340864"/>
            <a:ext cx="914400" cy="0"/>
          </a:xfrm>
          <a:prstGeom prst="line">
            <a:avLst/>
          </a:prstGeom>
          <a:noFill/>
          <a:ln w="13970">
            <a:solidFill>
              <a:srgbClr val="34D399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6720840" y="2075688"/>
            <a:ext cx="2011680" cy="53035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Agent Skill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SKILL.md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395728" y="3035808"/>
            <a:ext cx="1307592" cy="137160"/>
          </a:xfrm>
          <a:prstGeom prst="line">
            <a:avLst/>
          </a:prstGeom>
          <a:noFill/>
          <a:ln w="13970">
            <a:solidFill>
              <a:srgbClr val="FBBF24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3703320" y="2916936"/>
            <a:ext cx="2057400" cy="530352"/>
          </a:xfrm>
          <a:prstGeom prst="rect">
            <a:avLst/>
          </a:prstGeom>
          <a:solidFill>
            <a:srgbClr val="293548"/>
          </a:solidFill>
          <a:ln w="12700">
            <a:solidFill>
              <a:srgbClr val="29354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Tarefa recorrente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com contrato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806440" y="3182112"/>
            <a:ext cx="914400" cy="0"/>
          </a:xfrm>
          <a:prstGeom prst="line">
            <a:avLst/>
          </a:prstGeom>
          <a:noFill/>
          <a:ln w="13970">
            <a:solidFill>
              <a:srgbClr val="FBBF24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6720840" y="2916936"/>
            <a:ext cx="2011680" cy="53035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Custom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Agent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395728" y="3035808"/>
            <a:ext cx="1307592" cy="978408"/>
          </a:xfrm>
          <a:prstGeom prst="line">
            <a:avLst/>
          </a:prstGeom>
          <a:noFill/>
          <a:ln w="13970">
            <a:solidFill>
              <a:srgbClr val="FB923C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3703320" y="3758184"/>
            <a:ext cx="2057400" cy="530352"/>
          </a:xfrm>
          <a:prstGeom prst="rect">
            <a:avLst/>
          </a:prstGeom>
          <a:solidFill>
            <a:srgbClr val="293548"/>
          </a:solidFill>
          <a:ln w="12700">
            <a:solidFill>
              <a:srgbClr val="29354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Fluxo multi-etapa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com decisao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806440" y="4023360"/>
            <a:ext cx="914400" cy="0"/>
          </a:xfrm>
          <a:prstGeom prst="line">
            <a:avLst/>
          </a:prstGeom>
          <a:noFill/>
          <a:ln w="13970">
            <a:solidFill>
              <a:srgbClr val="FB923C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6720840" y="3758184"/>
            <a:ext cx="2011680" cy="53035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Orchestrator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Agent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395728" y="3035808"/>
            <a:ext cx="1307592" cy="1819656"/>
          </a:xfrm>
          <a:prstGeom prst="line">
            <a:avLst/>
          </a:prstGeom>
          <a:noFill/>
          <a:ln w="13970">
            <a:solidFill>
              <a:srgbClr val="A78BFA"/>
            </a:solidFill>
            <a:prstDash val="solid"/>
            <a:headEnd type="none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3703320" y="4599432"/>
            <a:ext cx="2057400" cy="530352"/>
          </a:xfrm>
          <a:prstGeom prst="rect">
            <a:avLst/>
          </a:prstGeom>
          <a:solidFill>
            <a:srgbClr val="293548"/>
          </a:solidFill>
          <a:ln w="12700">
            <a:solidFill>
              <a:srgbClr val="29354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Ferramenta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externa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806440" y="4864608"/>
            <a:ext cx="914400" cy="0"/>
          </a:xfrm>
          <a:prstGeom prst="line">
            <a:avLst/>
          </a:prstGeom>
          <a:noFill/>
          <a:ln w="13970">
            <a:solidFill>
              <a:srgbClr val="A78BFA"/>
            </a:solidFill>
            <a:prstDash val="solid"/>
            <a:headEnd type="none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6720840" y="4599432"/>
            <a:ext cx="2011680" cy="5303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MCP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Server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098280" y="2148840"/>
            <a:ext cx="2331720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A8B3C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Regra pratica: so transforme em Custom Agent quando houver comportamento, contexto, ferramentas e validacao proprios.</a:t>
            </a:r>
            <a:endParaRPr lang="en-US" sz="1420" dirty="0"/>
          </a:p>
        </p:txBody>
      </p:sp>
      <p:sp>
        <p:nvSpPr>
          <p:cNvPr id="28" name="Text 26"/>
          <p:cNvSpPr/>
          <p:nvPr/>
        </p:nvSpPr>
        <p:spPr>
          <a:xfrm>
            <a:off x="502920" y="652881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3C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Harness Engineering / Copilot Agents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8B3C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3891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Arquitetura: Orchestrator + especialistas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89611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8B3C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 Orchestrator interpreta, roteia, empacota contexto minimo e consolida evidencias.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77240" y="2743200"/>
            <a:ext cx="164592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Issue / PR /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User request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60320" y="3072384"/>
            <a:ext cx="1143000" cy="0"/>
          </a:xfrm>
          <a:prstGeom prst="line">
            <a:avLst/>
          </a:prstGeom>
          <a:noFill/>
          <a:ln w="2159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3703320" y="2514600"/>
            <a:ext cx="1600200" cy="9601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Orchestrator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Agent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303520" y="2990088"/>
            <a:ext cx="1143000" cy="-1453896"/>
          </a:xfrm>
          <a:prstGeom prst="line">
            <a:avLst/>
          </a:prstGeom>
          <a:noFill/>
          <a:ln w="13970">
            <a:solidFill>
              <a:srgbClr val="A78BFA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6446520" y="1234440"/>
            <a:ext cx="1645920" cy="60350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Researcher</a:t>
            </a:r>
            <a:endParaRPr lang="en-US" sz="1280" dirty="0"/>
          </a:p>
        </p:txBody>
      </p:sp>
      <p:sp>
        <p:nvSpPr>
          <p:cNvPr id="11" name="Shape 9"/>
          <p:cNvSpPr/>
          <p:nvPr/>
        </p:nvSpPr>
        <p:spPr>
          <a:xfrm>
            <a:off x="5303520" y="2990088"/>
            <a:ext cx="3337560" cy="-1453896"/>
          </a:xfrm>
          <a:prstGeom prst="line">
            <a:avLst/>
          </a:prstGeom>
          <a:noFill/>
          <a:ln w="13970">
            <a:solidFill>
              <a:srgbClr val="34D399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8641080" y="1234440"/>
            <a:ext cx="1645920" cy="60350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Implementation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5303520" y="2990088"/>
            <a:ext cx="1143000" cy="100584"/>
          </a:xfrm>
          <a:prstGeom prst="line">
            <a:avLst/>
          </a:prstGeom>
          <a:noFill/>
          <a:ln w="13970">
            <a:solidFill>
              <a:srgbClr val="FBBF24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6446520" y="2788920"/>
            <a:ext cx="1645920" cy="60350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Test specialist</a:t>
            </a:r>
            <a:endParaRPr lang="en-US" sz="1280" dirty="0"/>
          </a:p>
        </p:txBody>
      </p:sp>
      <p:sp>
        <p:nvSpPr>
          <p:cNvPr id="15" name="Shape 13"/>
          <p:cNvSpPr/>
          <p:nvPr/>
        </p:nvSpPr>
        <p:spPr>
          <a:xfrm>
            <a:off x="5303520" y="2990088"/>
            <a:ext cx="3337560" cy="100584"/>
          </a:xfrm>
          <a:prstGeom prst="line">
            <a:avLst/>
          </a:prstGeom>
          <a:noFill/>
          <a:ln w="13970">
            <a:solidFill>
              <a:srgbClr val="FB923C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8641080" y="2788920"/>
            <a:ext cx="1645920" cy="603504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Security reviewer</a:t>
            </a:r>
            <a:endParaRPr lang="en-US" sz="1280" dirty="0"/>
          </a:p>
        </p:txBody>
      </p:sp>
      <p:sp>
        <p:nvSpPr>
          <p:cNvPr id="17" name="Shape 15"/>
          <p:cNvSpPr/>
          <p:nvPr/>
        </p:nvSpPr>
        <p:spPr>
          <a:xfrm>
            <a:off x="5303520" y="2990088"/>
            <a:ext cx="2240280" cy="1655064"/>
          </a:xfrm>
          <a:prstGeom prst="line">
            <a:avLst/>
          </a:prstGeom>
          <a:noFill/>
          <a:ln w="1397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7543800" y="4343400"/>
            <a:ext cx="1645920" cy="60350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Documentation</a:t>
            </a:r>
            <a:endParaRPr lang="en-US" sz="1280" dirty="0"/>
          </a:p>
        </p:txBody>
      </p:sp>
      <p:sp>
        <p:nvSpPr>
          <p:cNvPr id="19" name="Text 17"/>
          <p:cNvSpPr/>
          <p:nvPr/>
        </p:nvSpPr>
        <p:spPr>
          <a:xfrm>
            <a:off x="822960" y="5166360"/>
            <a:ext cx="493776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A8B3C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 Orchestrator nao faz tudo: ele decide o proximo passo com base em contexto, status e evidencias.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92240" y="5376672"/>
            <a:ext cx="420624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A8B3C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SubAgents devem ter escopo, ferramentas e saida resumida.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502920" y="652881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3C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Harness Engineering / Copilot Agents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8B3C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3891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Modos de workflow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89611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8B3C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Escolha o modo conforme dependencia, independencia ou transferencia de responsabilidade.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31520" y="1417320"/>
            <a:ext cx="1508760" cy="47548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Sequencial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468880" y="1463040"/>
            <a:ext cx="333756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Requisito -&gt; plano -&gt; implementacao -&gt; teste -&gt; review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731520" y="3657600"/>
            <a:ext cx="1508760" cy="47548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Concorrente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468880" y="3703320"/>
            <a:ext cx="333756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Seguranca, performance, qualidade e UX em paralelo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6400800" y="1417320"/>
            <a:ext cx="1508760" cy="47548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Handoff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138160" y="1463040"/>
            <a:ext cx="333756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Outro agent assume a responsabilidade principal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6400800" y="3657600"/>
            <a:ext cx="1508760" cy="47548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Manager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38160" y="3703320"/>
            <a:ext cx="333756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Um agent central coordena e consolida tudo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868680" y="2240280"/>
            <a:ext cx="640080" cy="411480"/>
          </a:xfrm>
          <a:prstGeom prst="rect">
            <a:avLst/>
          </a:prstGeom>
          <a:solidFill>
            <a:srgbClr val="293548"/>
          </a:solidFill>
          <a:ln w="12700">
            <a:solidFill>
              <a:srgbClr val="29354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Req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508760" y="2450592"/>
            <a:ext cx="274320" cy="0"/>
          </a:xfrm>
          <a:prstGeom prst="line">
            <a:avLst/>
          </a:prstGeom>
          <a:noFill/>
          <a:ln w="12700">
            <a:solidFill>
              <a:srgbClr val="2A3B52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1801368" y="2240280"/>
            <a:ext cx="640080" cy="411480"/>
          </a:xfrm>
          <a:prstGeom prst="rect">
            <a:avLst/>
          </a:prstGeom>
          <a:solidFill>
            <a:srgbClr val="293548"/>
          </a:solidFill>
          <a:ln w="12700">
            <a:solidFill>
              <a:srgbClr val="29354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Plan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441448" y="2450592"/>
            <a:ext cx="274320" cy="0"/>
          </a:xfrm>
          <a:prstGeom prst="line">
            <a:avLst/>
          </a:prstGeom>
          <a:noFill/>
          <a:ln w="12700">
            <a:solidFill>
              <a:srgbClr val="2A3B52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2734056" y="2240280"/>
            <a:ext cx="640080" cy="411480"/>
          </a:xfrm>
          <a:prstGeom prst="rect">
            <a:avLst/>
          </a:prstGeom>
          <a:solidFill>
            <a:srgbClr val="293548"/>
          </a:solidFill>
          <a:ln w="12700">
            <a:solidFill>
              <a:srgbClr val="29354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Code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374136" y="2450592"/>
            <a:ext cx="274320" cy="0"/>
          </a:xfrm>
          <a:prstGeom prst="line">
            <a:avLst/>
          </a:prstGeom>
          <a:noFill/>
          <a:ln w="12700">
            <a:solidFill>
              <a:srgbClr val="2A3B52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3666744" y="2240280"/>
            <a:ext cx="640080" cy="411480"/>
          </a:xfrm>
          <a:prstGeom prst="rect">
            <a:avLst/>
          </a:prstGeom>
          <a:solidFill>
            <a:srgbClr val="293548"/>
          </a:solidFill>
          <a:ln w="12700">
            <a:solidFill>
              <a:srgbClr val="29354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Test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306824" y="2450592"/>
            <a:ext cx="274320" cy="0"/>
          </a:xfrm>
          <a:prstGeom prst="line">
            <a:avLst/>
          </a:prstGeom>
          <a:noFill/>
          <a:ln w="12700">
            <a:solidFill>
              <a:srgbClr val="2A3B52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4599432" y="2240280"/>
            <a:ext cx="640080" cy="411480"/>
          </a:xfrm>
          <a:prstGeom prst="rect">
            <a:avLst/>
          </a:prstGeom>
          <a:solidFill>
            <a:srgbClr val="293548"/>
          </a:solidFill>
          <a:ln w="12700">
            <a:solidFill>
              <a:srgbClr val="29354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Review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60120" y="4572000"/>
            <a:ext cx="685800" cy="411480"/>
          </a:xfrm>
          <a:prstGeom prst="rect">
            <a:avLst/>
          </a:prstGeom>
          <a:solidFill>
            <a:srgbClr val="293548"/>
          </a:solidFill>
          <a:ln w="12700">
            <a:solidFill>
              <a:srgbClr val="29354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Sec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298448" y="4983480"/>
            <a:ext cx="1810512" cy="466344"/>
          </a:xfrm>
          <a:prstGeom prst="line">
            <a:avLst/>
          </a:prstGeom>
          <a:noFill/>
          <a:ln w="10160">
            <a:solidFill>
              <a:srgbClr val="2A3B52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2011680" y="4572000"/>
            <a:ext cx="685800" cy="411480"/>
          </a:xfrm>
          <a:prstGeom prst="rect">
            <a:avLst/>
          </a:prstGeom>
          <a:solidFill>
            <a:srgbClr val="293548"/>
          </a:solidFill>
          <a:ln w="12700">
            <a:solidFill>
              <a:srgbClr val="29354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Perf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350008" y="4983480"/>
            <a:ext cx="758952" cy="466344"/>
          </a:xfrm>
          <a:prstGeom prst="line">
            <a:avLst/>
          </a:prstGeom>
          <a:noFill/>
          <a:ln w="10160">
            <a:solidFill>
              <a:srgbClr val="2A3B52"/>
            </a:solidFill>
            <a:prstDash val="solid"/>
            <a:headEnd type="none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3063240" y="4572000"/>
            <a:ext cx="685800" cy="411480"/>
          </a:xfrm>
          <a:prstGeom prst="rect">
            <a:avLst/>
          </a:prstGeom>
          <a:solidFill>
            <a:srgbClr val="293548"/>
          </a:solidFill>
          <a:ln w="12700">
            <a:solidFill>
              <a:srgbClr val="29354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Test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401568" y="4983480"/>
            <a:ext cx="-292608" cy="466344"/>
          </a:xfrm>
          <a:prstGeom prst="line">
            <a:avLst/>
          </a:prstGeom>
          <a:noFill/>
          <a:ln w="10160">
            <a:solidFill>
              <a:srgbClr val="2A3B52"/>
            </a:solidFill>
            <a:prstDash val="solid"/>
            <a:headEnd type="none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4114800" y="4572000"/>
            <a:ext cx="685800" cy="411480"/>
          </a:xfrm>
          <a:prstGeom prst="rect">
            <a:avLst/>
          </a:prstGeom>
          <a:solidFill>
            <a:srgbClr val="293548"/>
          </a:solidFill>
          <a:ln w="12700">
            <a:solidFill>
              <a:srgbClr val="29354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UX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453128" y="4983480"/>
            <a:ext cx="-1344168" cy="466344"/>
          </a:xfrm>
          <a:prstGeom prst="line">
            <a:avLst/>
          </a:prstGeom>
          <a:noFill/>
          <a:ln w="10160">
            <a:solidFill>
              <a:srgbClr val="2A3B52"/>
            </a:solidFill>
            <a:prstDash val="solid"/>
            <a:headEnd type="none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2788920" y="5440680"/>
            <a:ext cx="1005840" cy="38404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Consolidar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675120" y="2194560"/>
            <a:ext cx="914400" cy="438912"/>
          </a:xfrm>
          <a:prstGeom prst="rect">
            <a:avLst/>
          </a:prstGeom>
          <a:solidFill>
            <a:srgbClr val="293548"/>
          </a:solidFill>
          <a:ln w="12700">
            <a:solidFill>
              <a:srgbClr val="29354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Agent A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635240" y="2414016"/>
            <a:ext cx="731520" cy="0"/>
          </a:xfrm>
          <a:prstGeom prst="line">
            <a:avLst/>
          </a:prstGeom>
          <a:noFill/>
          <a:ln w="12700">
            <a:solidFill>
              <a:srgbClr val="FB923C"/>
            </a:solidFill>
            <a:prstDash val="solid"/>
            <a:headEnd type="none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8366760" y="2194560"/>
            <a:ext cx="914400" cy="438912"/>
          </a:xfrm>
          <a:prstGeom prst="rect">
            <a:avLst/>
          </a:prstGeom>
          <a:solidFill>
            <a:srgbClr val="293548"/>
          </a:solidFill>
          <a:ln w="12700">
            <a:solidFill>
              <a:srgbClr val="29354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Agent B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086600" y="4572000"/>
            <a:ext cx="914400" cy="43891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Orch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229600" y="4343400"/>
            <a:ext cx="411480" cy="320040"/>
          </a:xfrm>
          <a:prstGeom prst="rect">
            <a:avLst/>
          </a:prstGeom>
          <a:solidFill>
            <a:srgbClr val="293548"/>
          </a:solidFill>
          <a:ln w="12700">
            <a:solidFill>
              <a:srgbClr val="29354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001000" y="4782312"/>
            <a:ext cx="228600" cy="-283464"/>
          </a:xfrm>
          <a:prstGeom prst="line">
            <a:avLst/>
          </a:prstGeom>
          <a:noFill/>
          <a:ln w="10160">
            <a:solidFill>
              <a:srgbClr val="2A3B52"/>
            </a:solidFill>
            <a:prstDash val="solid"/>
            <a:headEnd type="none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9052560" y="4599432"/>
            <a:ext cx="411480" cy="320040"/>
          </a:xfrm>
          <a:prstGeom prst="rect">
            <a:avLst/>
          </a:prstGeom>
          <a:solidFill>
            <a:srgbClr val="293548"/>
          </a:solidFill>
          <a:ln w="12700">
            <a:solidFill>
              <a:srgbClr val="29354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001000" y="4782312"/>
            <a:ext cx="1051560" cy="-27432"/>
          </a:xfrm>
          <a:prstGeom prst="line">
            <a:avLst/>
          </a:prstGeom>
          <a:noFill/>
          <a:ln w="10160">
            <a:solidFill>
              <a:srgbClr val="2A3B52"/>
            </a:solidFill>
            <a:prstDash val="solid"/>
            <a:headEnd type="none"/>
            <a:tailEnd type="triangle"/>
          </a:ln>
        </p:spPr>
      </p:sp>
      <p:sp>
        <p:nvSpPr>
          <p:cNvPr id="40" name="Text 38"/>
          <p:cNvSpPr/>
          <p:nvPr/>
        </p:nvSpPr>
        <p:spPr>
          <a:xfrm>
            <a:off x="9875520" y="4855464"/>
            <a:ext cx="411480" cy="320040"/>
          </a:xfrm>
          <a:prstGeom prst="rect">
            <a:avLst/>
          </a:prstGeom>
          <a:solidFill>
            <a:srgbClr val="293548"/>
          </a:solidFill>
          <a:ln w="12700">
            <a:solidFill>
              <a:srgbClr val="29354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8001000" y="4782312"/>
            <a:ext cx="1874520" cy="228600"/>
          </a:xfrm>
          <a:prstGeom prst="line">
            <a:avLst/>
          </a:prstGeom>
          <a:noFill/>
          <a:ln w="10160">
            <a:solidFill>
              <a:srgbClr val="2A3B52"/>
            </a:solidFill>
            <a:prstDash val="solid"/>
            <a:headEnd type="none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502920" y="652881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3C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Harness Engineering / Copilot Agents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8B3C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3891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Context Engineering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89611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8B3C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Curar o contexto certo e evitar tanto a falta quanto o excesso de informacao.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68680" y="1325880"/>
            <a:ext cx="228600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8717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Context Anxiety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1828800"/>
            <a:ext cx="1828800" cy="68580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Pouco contexto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= alucinacao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788920"/>
            <a:ext cx="1828800" cy="68580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Contexto demais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= ruído e perda de foco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971800" y="2651760"/>
            <a:ext cx="1188720" cy="0"/>
          </a:xfrm>
          <a:prstGeom prst="line">
            <a:avLst/>
          </a:prstGeom>
          <a:noFill/>
          <a:ln w="2032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4251960" y="1234440"/>
            <a:ext cx="1920240" cy="502920"/>
          </a:xfrm>
          <a:prstGeom prst="rect">
            <a:avLst/>
          </a:prstGeom>
          <a:solidFill>
            <a:srgbClr val="293548"/>
          </a:solidFill>
          <a:ln w="12700">
            <a:solidFill>
              <a:srgbClr val="29354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Retrieval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26280" y="1965960"/>
            <a:ext cx="1371600" cy="502920"/>
          </a:xfrm>
          <a:prstGeom prst="rect">
            <a:avLst/>
          </a:prstGeom>
          <a:solidFill>
            <a:srgbClr val="293548"/>
          </a:solidFill>
          <a:ln w="12700">
            <a:solidFill>
              <a:srgbClr val="29354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Reranking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36592" y="2697480"/>
            <a:ext cx="960120" cy="502920"/>
          </a:xfrm>
          <a:prstGeom prst="rect">
            <a:avLst/>
          </a:prstGeom>
          <a:solidFill>
            <a:srgbClr val="293548"/>
          </a:solidFill>
          <a:ln w="12700">
            <a:solidFill>
              <a:srgbClr val="29354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Compression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55464" y="3429000"/>
            <a:ext cx="731520" cy="5029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Packet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212080" y="3977640"/>
            <a:ext cx="0" cy="640080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4297680" y="4617720"/>
            <a:ext cx="1828800" cy="6858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SubAgent recebe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apenas o necessario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766560" y="1828800"/>
            <a:ext cx="4389120" cy="1737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Tecnicas: sumarizacao, filtragem de ruido, chunking semantico, semantic trimming, context delta e manifest.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656832" y="4160520"/>
            <a:ext cx="452628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8BD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Regra de ouro: passe referencias, nao conteudo; passe decisoes, nao conversas; passe diffs, nao arquivos inteiros.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02920" y="652881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3C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Harness Engineering / Copilot Agents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8B3C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3891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Camadas de contexto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89611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8B3C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Cada tipo de contexto deve morar no lugar certo e entrar no prompt apenas quando necessario.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22960" y="1234440"/>
            <a:ext cx="1325880" cy="43891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Global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423160" y="1271016"/>
            <a:ext cx="297180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.github/copilot-instructions.md</a:t>
            </a:r>
            <a:endParaRPr lang="en-US" sz="1280" dirty="0"/>
          </a:p>
        </p:txBody>
      </p:sp>
      <p:sp>
        <p:nvSpPr>
          <p:cNvPr id="8" name="Text 6"/>
          <p:cNvSpPr/>
          <p:nvPr/>
        </p:nvSpPr>
        <p:spPr>
          <a:xfrm>
            <a:off x="5715000" y="1271016"/>
            <a:ext cx="475488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A8B3C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Stack, comandos e padroes gerais</a:t>
            </a:r>
            <a:endParaRPr lang="en-US" sz="1280" dirty="0"/>
          </a:p>
        </p:txBody>
      </p:sp>
      <p:sp>
        <p:nvSpPr>
          <p:cNvPr id="9" name="Text 7"/>
          <p:cNvSpPr/>
          <p:nvPr/>
        </p:nvSpPr>
        <p:spPr>
          <a:xfrm>
            <a:off x="822960" y="1920240"/>
            <a:ext cx="1325880" cy="43891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Area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23160" y="1956816"/>
            <a:ext cx="297180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.github/instructions/*.md</a:t>
            </a:r>
            <a:endParaRPr lang="en-US" sz="1280" dirty="0"/>
          </a:p>
        </p:txBody>
      </p:sp>
      <p:sp>
        <p:nvSpPr>
          <p:cNvPr id="11" name="Text 9"/>
          <p:cNvSpPr/>
          <p:nvPr/>
        </p:nvSpPr>
        <p:spPr>
          <a:xfrm>
            <a:off x="5715000" y="1956816"/>
            <a:ext cx="475488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A8B3C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Frontend, backend, testes, seguranca</a:t>
            </a:r>
            <a:endParaRPr lang="en-US" sz="1280" dirty="0"/>
          </a:p>
        </p:txBody>
      </p:sp>
      <p:sp>
        <p:nvSpPr>
          <p:cNvPr id="12" name="Text 10"/>
          <p:cNvSpPr/>
          <p:nvPr/>
        </p:nvSpPr>
        <p:spPr>
          <a:xfrm>
            <a:off x="822960" y="2606040"/>
            <a:ext cx="1325880" cy="43891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Agent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23160" y="2642616"/>
            <a:ext cx="297180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.github/agents/*.md</a:t>
            </a:r>
            <a:endParaRPr lang="en-US" sz="1280" dirty="0"/>
          </a:p>
        </p:txBody>
      </p:sp>
      <p:sp>
        <p:nvSpPr>
          <p:cNvPr id="14" name="Text 12"/>
          <p:cNvSpPr/>
          <p:nvPr/>
        </p:nvSpPr>
        <p:spPr>
          <a:xfrm>
            <a:off x="5715000" y="2642616"/>
            <a:ext cx="475488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A8B3C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Papel, ferramentas e limites</a:t>
            </a:r>
            <a:endParaRPr lang="en-US" sz="1280" dirty="0"/>
          </a:p>
        </p:txBody>
      </p:sp>
      <p:sp>
        <p:nvSpPr>
          <p:cNvPr id="15" name="Text 13"/>
          <p:cNvSpPr/>
          <p:nvPr/>
        </p:nvSpPr>
        <p:spPr>
          <a:xfrm>
            <a:off x="822960" y="3291840"/>
            <a:ext cx="1325880" cy="43891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Sob demanda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423160" y="3328416"/>
            <a:ext cx="297180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ADRs, OpenAPI, README, repo</a:t>
            </a:r>
            <a:endParaRPr lang="en-US" sz="1280" dirty="0"/>
          </a:p>
        </p:txBody>
      </p:sp>
      <p:sp>
        <p:nvSpPr>
          <p:cNvPr id="17" name="Text 15"/>
          <p:cNvSpPr/>
          <p:nvPr/>
        </p:nvSpPr>
        <p:spPr>
          <a:xfrm>
            <a:off x="5715000" y="3328416"/>
            <a:ext cx="475488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A8B3C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Referenciar; nao colar tudo</a:t>
            </a:r>
            <a:endParaRPr lang="en-US" sz="1280" dirty="0"/>
          </a:p>
        </p:txBody>
      </p:sp>
      <p:sp>
        <p:nvSpPr>
          <p:cNvPr id="18" name="Text 16"/>
          <p:cNvSpPr/>
          <p:nvPr/>
        </p:nvSpPr>
        <p:spPr>
          <a:xfrm>
            <a:off x="822960" y="3977640"/>
            <a:ext cx="1325880" cy="43891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Tarefa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423160" y="4014216"/>
            <a:ext cx="297180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Issue, PR, plano</a:t>
            </a:r>
            <a:endParaRPr lang="en-US" sz="1280" dirty="0"/>
          </a:p>
        </p:txBody>
      </p:sp>
      <p:sp>
        <p:nvSpPr>
          <p:cNvPr id="20" name="Text 18"/>
          <p:cNvSpPr/>
          <p:nvPr/>
        </p:nvSpPr>
        <p:spPr>
          <a:xfrm>
            <a:off x="5715000" y="4014216"/>
            <a:ext cx="475488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A8B3C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Objetivo, aceite e status</a:t>
            </a:r>
            <a:endParaRPr lang="en-US" sz="1280" dirty="0"/>
          </a:p>
        </p:txBody>
      </p:sp>
      <p:sp>
        <p:nvSpPr>
          <p:cNvPr id="21" name="Text 19"/>
          <p:cNvSpPr/>
          <p:nvPr/>
        </p:nvSpPr>
        <p:spPr>
          <a:xfrm>
            <a:off x="822960" y="4663440"/>
            <a:ext cx="1325880" cy="43891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Externo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423160" y="4700016"/>
            <a:ext cx="297180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MCP / Spaces</a:t>
            </a:r>
            <a:endParaRPr lang="en-US" sz="1280" dirty="0"/>
          </a:p>
        </p:txBody>
      </p:sp>
      <p:sp>
        <p:nvSpPr>
          <p:cNvPr id="23" name="Text 21"/>
          <p:cNvSpPr/>
          <p:nvPr/>
        </p:nvSpPr>
        <p:spPr>
          <a:xfrm>
            <a:off x="5715000" y="4700016"/>
            <a:ext cx="475488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A8B3C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Jira, GitHub, design docs</a:t>
            </a:r>
            <a:endParaRPr lang="en-US" sz="1280" dirty="0"/>
          </a:p>
        </p:txBody>
      </p:sp>
      <p:sp>
        <p:nvSpPr>
          <p:cNvPr id="24" name="Text 22"/>
          <p:cNvSpPr/>
          <p:nvPr/>
        </p:nvSpPr>
        <p:spPr>
          <a:xfrm>
            <a:off x="10561320" y="1261872"/>
            <a:ext cx="685800" cy="43891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561320" y="1801368"/>
            <a:ext cx="685800" cy="43891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561320" y="2340864"/>
            <a:ext cx="685800" cy="43891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561320" y="2880360"/>
            <a:ext cx="685800" cy="43891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561320" y="3419856"/>
            <a:ext cx="685800" cy="43891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561320" y="3959352"/>
            <a:ext cx="685800" cy="43891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372600" y="5303520"/>
            <a:ext cx="201168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A8B3C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Quanto mais especifico,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A8B3C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menos deve entrar automaticamente.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02920" y="652881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3C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Harness Engineering / Copilot Agents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8B3C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3891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Estrutura recomendada no repositorio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89611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8B3C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Organizar arquivos de contexto transforma o repo em memoria compartilhada para humanos e agentes.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77240" y="1325880"/>
            <a:ext cx="91440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repo/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106424" y="1709928"/>
            <a:ext cx="0" cy="283464"/>
          </a:xfrm>
          <a:prstGeom prst="line">
            <a:avLst/>
          </a:prstGeom>
          <a:noFill/>
          <a:ln w="9525">
            <a:solidFill>
              <a:srgbClr val="2A3B5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06424" y="1993392"/>
            <a:ext cx="265176" cy="0"/>
          </a:xfrm>
          <a:prstGeom prst="line">
            <a:avLst/>
          </a:prstGeom>
          <a:noFill/>
          <a:ln w="9525">
            <a:solidFill>
              <a:srgbClr val="2A3B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35608" y="1828800"/>
            <a:ext cx="2788920" cy="310896"/>
          </a:xfrm>
          <a:prstGeom prst="rect">
            <a:avLst/>
          </a:prstGeom>
          <a:solidFill>
            <a:srgbClr val="293548"/>
          </a:solidFill>
          <a:ln w="12700">
            <a:solidFill>
              <a:srgbClr val="29354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.github/copilot-instructions.md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4434840" y="1828800"/>
            <a:ext cx="2057400" cy="31089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regras globais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1106424" y="1709928"/>
            <a:ext cx="0" cy="713232"/>
          </a:xfrm>
          <a:prstGeom prst="line">
            <a:avLst/>
          </a:prstGeom>
          <a:noFill/>
          <a:ln w="9525">
            <a:solidFill>
              <a:srgbClr val="2A3B5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06424" y="2423160"/>
            <a:ext cx="265176" cy="0"/>
          </a:xfrm>
          <a:prstGeom prst="line">
            <a:avLst/>
          </a:prstGeom>
          <a:noFill/>
          <a:ln w="9525">
            <a:solidFill>
              <a:srgbClr val="2A3B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08" y="2258568"/>
            <a:ext cx="2788920" cy="310896"/>
          </a:xfrm>
          <a:prstGeom prst="rect">
            <a:avLst/>
          </a:prstGeom>
          <a:solidFill>
            <a:srgbClr val="293548"/>
          </a:solidFill>
          <a:ln w="12700">
            <a:solidFill>
              <a:srgbClr val="29354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.github/instructions/*.md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4434840" y="2258568"/>
            <a:ext cx="2057400" cy="310896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regras por area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1106424" y="1709928"/>
            <a:ext cx="0" cy="1143000"/>
          </a:xfrm>
          <a:prstGeom prst="line">
            <a:avLst/>
          </a:prstGeom>
          <a:noFill/>
          <a:ln w="9525">
            <a:solidFill>
              <a:srgbClr val="2A3B5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06424" y="2852928"/>
            <a:ext cx="265176" cy="0"/>
          </a:xfrm>
          <a:prstGeom prst="line">
            <a:avLst/>
          </a:prstGeom>
          <a:noFill/>
          <a:ln w="9525">
            <a:solidFill>
              <a:srgbClr val="2A3B5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35608" y="2688336"/>
            <a:ext cx="2788920" cy="310896"/>
          </a:xfrm>
          <a:prstGeom prst="rect">
            <a:avLst/>
          </a:prstGeom>
          <a:solidFill>
            <a:srgbClr val="293548"/>
          </a:solidFill>
          <a:ln w="12700">
            <a:solidFill>
              <a:srgbClr val="29354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.github/agents/*.md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4434840" y="2688336"/>
            <a:ext cx="2057400" cy="31089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papel e contrato dos agents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1106424" y="1709928"/>
            <a:ext cx="0" cy="1572768"/>
          </a:xfrm>
          <a:prstGeom prst="line">
            <a:avLst/>
          </a:prstGeom>
          <a:noFill/>
          <a:ln w="9525">
            <a:solidFill>
              <a:srgbClr val="2A3B5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06424" y="3282696"/>
            <a:ext cx="265176" cy="0"/>
          </a:xfrm>
          <a:prstGeom prst="line">
            <a:avLst/>
          </a:prstGeom>
          <a:noFill/>
          <a:ln w="9525">
            <a:solidFill>
              <a:srgbClr val="2A3B5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35608" y="3118104"/>
            <a:ext cx="2788920" cy="310896"/>
          </a:xfrm>
          <a:prstGeom prst="rect">
            <a:avLst/>
          </a:prstGeom>
          <a:solidFill>
            <a:srgbClr val="293548"/>
          </a:solidFill>
          <a:ln w="12700">
            <a:solidFill>
              <a:srgbClr val="29354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.github/skills/*/SKILL.md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4434840" y="3118104"/>
            <a:ext cx="2057400" cy="310896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procedimentos especificos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1106424" y="1709928"/>
            <a:ext cx="0" cy="2002536"/>
          </a:xfrm>
          <a:prstGeom prst="line">
            <a:avLst/>
          </a:prstGeom>
          <a:noFill/>
          <a:ln w="9525">
            <a:solidFill>
              <a:srgbClr val="2A3B5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06424" y="3712464"/>
            <a:ext cx="265176" cy="0"/>
          </a:xfrm>
          <a:prstGeom prst="line">
            <a:avLst/>
          </a:prstGeom>
          <a:noFill/>
          <a:ln w="9525">
            <a:solidFill>
              <a:srgbClr val="2A3B5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35608" y="3547872"/>
            <a:ext cx="2788920" cy="310896"/>
          </a:xfrm>
          <a:prstGeom prst="rect">
            <a:avLst/>
          </a:prstGeom>
          <a:solidFill>
            <a:srgbClr val="293548"/>
          </a:solidFill>
          <a:ln w="12700">
            <a:solidFill>
              <a:srgbClr val="29354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docs/architecture.md</a:t>
            </a:r>
            <a:endParaRPr lang="en-US" sz="920" dirty="0"/>
          </a:p>
        </p:txBody>
      </p:sp>
      <p:sp>
        <p:nvSpPr>
          <p:cNvPr id="26" name="Text 24"/>
          <p:cNvSpPr/>
          <p:nvPr/>
        </p:nvSpPr>
        <p:spPr>
          <a:xfrm>
            <a:off x="4434840" y="3547872"/>
            <a:ext cx="2057400" cy="31089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arquitetura atual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1106424" y="1709928"/>
            <a:ext cx="0" cy="2432304"/>
          </a:xfrm>
          <a:prstGeom prst="line">
            <a:avLst/>
          </a:prstGeom>
          <a:noFill/>
          <a:ln w="9525">
            <a:solidFill>
              <a:srgbClr val="2A3B5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06424" y="4142232"/>
            <a:ext cx="265176" cy="0"/>
          </a:xfrm>
          <a:prstGeom prst="line">
            <a:avLst/>
          </a:prstGeom>
          <a:noFill/>
          <a:ln w="9525">
            <a:solidFill>
              <a:srgbClr val="2A3B5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435608" y="3977640"/>
            <a:ext cx="2788920" cy="310896"/>
          </a:xfrm>
          <a:prstGeom prst="rect">
            <a:avLst/>
          </a:prstGeom>
          <a:solidFill>
            <a:srgbClr val="293548"/>
          </a:solidFill>
          <a:ln w="12700">
            <a:solidFill>
              <a:srgbClr val="29354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docs/context-map.md</a:t>
            </a:r>
            <a:endParaRPr lang="en-US" sz="920" dirty="0"/>
          </a:p>
        </p:txBody>
      </p:sp>
      <p:sp>
        <p:nvSpPr>
          <p:cNvPr id="30" name="Text 28"/>
          <p:cNvSpPr/>
          <p:nvPr/>
        </p:nvSpPr>
        <p:spPr>
          <a:xfrm>
            <a:off x="4434840" y="3977640"/>
            <a:ext cx="2057400" cy="31089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estado do projeto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1106424" y="1709928"/>
            <a:ext cx="0" cy="2862072"/>
          </a:xfrm>
          <a:prstGeom prst="line">
            <a:avLst/>
          </a:prstGeom>
          <a:noFill/>
          <a:ln w="9525">
            <a:solidFill>
              <a:srgbClr val="2A3B5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106424" y="4572000"/>
            <a:ext cx="265176" cy="0"/>
          </a:xfrm>
          <a:prstGeom prst="line">
            <a:avLst/>
          </a:prstGeom>
          <a:noFill/>
          <a:ln w="9525">
            <a:solidFill>
              <a:srgbClr val="2A3B5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35608" y="4407408"/>
            <a:ext cx="2788920" cy="310896"/>
          </a:xfrm>
          <a:prstGeom prst="rect">
            <a:avLst/>
          </a:prstGeom>
          <a:solidFill>
            <a:srgbClr val="293548"/>
          </a:solidFill>
          <a:ln w="12700">
            <a:solidFill>
              <a:srgbClr val="29354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docs/adr/*.md</a:t>
            </a:r>
            <a:endParaRPr lang="en-US" sz="920" dirty="0"/>
          </a:p>
        </p:txBody>
      </p:sp>
      <p:sp>
        <p:nvSpPr>
          <p:cNvPr id="34" name="Text 32"/>
          <p:cNvSpPr/>
          <p:nvPr/>
        </p:nvSpPr>
        <p:spPr>
          <a:xfrm>
            <a:off x="4434840" y="4407408"/>
            <a:ext cx="2057400" cy="31089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decisoes e trade-offs</a:t>
            </a:r>
            <a:endParaRPr lang="en-US" sz="920" dirty="0"/>
          </a:p>
        </p:txBody>
      </p:sp>
      <p:sp>
        <p:nvSpPr>
          <p:cNvPr id="35" name="Shape 33"/>
          <p:cNvSpPr/>
          <p:nvPr/>
        </p:nvSpPr>
        <p:spPr>
          <a:xfrm>
            <a:off x="1106424" y="1709928"/>
            <a:ext cx="0" cy="3291840"/>
          </a:xfrm>
          <a:prstGeom prst="line">
            <a:avLst/>
          </a:prstGeom>
          <a:noFill/>
          <a:ln w="9525">
            <a:solidFill>
              <a:srgbClr val="2A3B5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06424" y="5001768"/>
            <a:ext cx="265176" cy="0"/>
          </a:xfrm>
          <a:prstGeom prst="line">
            <a:avLst/>
          </a:prstGeom>
          <a:noFill/>
          <a:ln w="9525">
            <a:solidFill>
              <a:srgbClr val="2A3B5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35608" y="4837176"/>
            <a:ext cx="2788920" cy="310896"/>
          </a:xfrm>
          <a:prstGeom prst="rect">
            <a:avLst/>
          </a:prstGeom>
          <a:solidFill>
            <a:srgbClr val="293548"/>
          </a:solidFill>
          <a:ln w="12700">
            <a:solidFill>
              <a:srgbClr val="29354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docs/api/openapi.yaml</a:t>
            </a:r>
            <a:endParaRPr lang="en-US" sz="920" dirty="0"/>
          </a:p>
        </p:txBody>
      </p:sp>
      <p:sp>
        <p:nvSpPr>
          <p:cNvPr id="38" name="Text 36"/>
          <p:cNvSpPr/>
          <p:nvPr/>
        </p:nvSpPr>
        <p:spPr>
          <a:xfrm>
            <a:off x="4434840" y="4837176"/>
            <a:ext cx="2057400" cy="310896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contrato externo</a:t>
            </a:r>
            <a:endParaRPr lang="en-US" sz="920" dirty="0"/>
          </a:p>
        </p:txBody>
      </p:sp>
      <p:sp>
        <p:nvSpPr>
          <p:cNvPr id="39" name="Shape 37"/>
          <p:cNvSpPr/>
          <p:nvPr/>
        </p:nvSpPr>
        <p:spPr>
          <a:xfrm>
            <a:off x="1106424" y="1709928"/>
            <a:ext cx="0" cy="3721608"/>
          </a:xfrm>
          <a:prstGeom prst="line">
            <a:avLst/>
          </a:prstGeom>
          <a:noFill/>
          <a:ln w="9525">
            <a:solidFill>
              <a:srgbClr val="2A3B5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06424" y="5431536"/>
            <a:ext cx="265176" cy="0"/>
          </a:xfrm>
          <a:prstGeom prst="line">
            <a:avLst/>
          </a:prstGeom>
          <a:noFill/>
          <a:ln w="9525">
            <a:solidFill>
              <a:srgbClr val="2A3B5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435608" y="5266944"/>
            <a:ext cx="2788920" cy="310896"/>
          </a:xfrm>
          <a:prstGeom prst="rect">
            <a:avLst/>
          </a:prstGeom>
          <a:solidFill>
            <a:srgbClr val="293548"/>
          </a:solidFill>
          <a:ln w="12700">
            <a:solidFill>
              <a:srgbClr val="29354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docs/design-system.md</a:t>
            </a:r>
            <a:endParaRPr lang="en-US" sz="920" dirty="0"/>
          </a:p>
        </p:txBody>
      </p:sp>
      <p:sp>
        <p:nvSpPr>
          <p:cNvPr id="42" name="Text 40"/>
          <p:cNvSpPr/>
          <p:nvPr/>
        </p:nvSpPr>
        <p:spPr>
          <a:xfrm>
            <a:off x="4434840" y="5266944"/>
            <a:ext cx="2057400" cy="31089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padroes de UX/UI</a:t>
            </a:r>
            <a:endParaRPr lang="en-US" sz="920" dirty="0"/>
          </a:p>
        </p:txBody>
      </p:sp>
      <p:sp>
        <p:nvSpPr>
          <p:cNvPr id="43" name="Shape 41"/>
          <p:cNvSpPr/>
          <p:nvPr/>
        </p:nvSpPr>
        <p:spPr>
          <a:xfrm>
            <a:off x="1106424" y="1709928"/>
            <a:ext cx="0" cy="4151376"/>
          </a:xfrm>
          <a:prstGeom prst="line">
            <a:avLst/>
          </a:prstGeom>
          <a:noFill/>
          <a:ln w="9525">
            <a:solidFill>
              <a:srgbClr val="2A3B5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106424" y="5861304"/>
            <a:ext cx="265176" cy="0"/>
          </a:xfrm>
          <a:prstGeom prst="line">
            <a:avLst/>
          </a:prstGeom>
          <a:noFill/>
          <a:ln w="9525">
            <a:solidFill>
              <a:srgbClr val="2A3B5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435608" y="5696712"/>
            <a:ext cx="2788920" cy="310896"/>
          </a:xfrm>
          <a:prstGeom prst="rect">
            <a:avLst/>
          </a:prstGeom>
          <a:solidFill>
            <a:srgbClr val="293548"/>
          </a:solidFill>
          <a:ln w="12700">
            <a:solidFill>
              <a:srgbClr val="29354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CHANGELOG.md</a:t>
            </a:r>
            <a:endParaRPr lang="en-US" sz="920" dirty="0"/>
          </a:p>
        </p:txBody>
      </p:sp>
      <p:sp>
        <p:nvSpPr>
          <p:cNvPr id="46" name="Text 44"/>
          <p:cNvSpPr/>
          <p:nvPr/>
        </p:nvSpPr>
        <p:spPr>
          <a:xfrm>
            <a:off x="4434840" y="5696712"/>
            <a:ext cx="2057400" cy="310896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historico de mudancas</a:t>
            </a:r>
            <a:endParaRPr lang="en-US" sz="920" dirty="0"/>
          </a:p>
        </p:txBody>
      </p:sp>
      <p:sp>
        <p:nvSpPr>
          <p:cNvPr id="47" name="Text 45"/>
          <p:cNvSpPr/>
          <p:nvPr/>
        </p:nvSpPr>
        <p:spPr>
          <a:xfrm>
            <a:off x="6812280" y="1874520"/>
            <a:ext cx="4023360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Antes de implementar, o agente deve ler context-map, instructions, instrucoes da area, ADRs, arquivos recentes e contratos impactados.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812280" y="3383280"/>
            <a:ext cx="3977640" cy="1508760"/>
          </a:xfrm>
          <a:prstGeom prst="rect">
            <a:avLst/>
          </a:prstGeom>
          <a:solidFill>
            <a:srgbClr val="293548"/>
          </a:solidFill>
          <a:ln w="12700">
            <a:solidFill>
              <a:srgbClr val="293548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Context Impact Checklist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- arquitetura mudou?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- API mudou?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- ADR necessario?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- instructions mudaram?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- context-map atualizado?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502920" y="652881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3C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Harness Engineering / Copilot Agents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8B3C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3891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Workflow Low-Token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89611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8B3C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Para tarefas longas, use filesystem, deltas e referencias em vez de historico de chat.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1828800"/>
            <a:ext cx="1600200" cy="5120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State files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1600200" cy="804672"/>
          </a:xfrm>
          <a:prstGeom prst="rect">
            <a:avLst/>
          </a:prstGeom>
          <a:solidFill>
            <a:srgbClr val="293548"/>
          </a:solidFill>
          <a:ln w="12700">
            <a:solidFill>
              <a:srgbClr val="29354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.copilot/task_state.json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ou .plan.md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331720" y="2221992"/>
            <a:ext cx="411480" cy="0"/>
          </a:xfrm>
          <a:prstGeom prst="line">
            <a:avLst/>
          </a:prstGeom>
          <a:noFill/>
          <a:ln w="12700">
            <a:solidFill>
              <a:srgbClr val="2A3B52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2953512" y="1828800"/>
            <a:ext cx="1600200" cy="5120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Context compaction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953512" y="2523744"/>
            <a:ext cx="1600200" cy="804672"/>
          </a:xfrm>
          <a:prstGeom prst="rect">
            <a:avLst/>
          </a:prstGeom>
          <a:solidFill>
            <a:srgbClr val="293548"/>
          </a:solidFill>
          <a:ln w="12700">
            <a:solidFill>
              <a:srgbClr val="29354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Resumo executivo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sem explicacoes longas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99432" y="2221992"/>
            <a:ext cx="411480" cy="0"/>
          </a:xfrm>
          <a:prstGeom prst="line">
            <a:avLst/>
          </a:prstGeom>
          <a:noFill/>
          <a:ln w="12700">
            <a:solidFill>
              <a:srgbClr val="2A3B52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5221224" y="1828800"/>
            <a:ext cx="1600200" cy="51206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MCP / tools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21224" y="2523744"/>
            <a:ext cx="1600200" cy="804672"/>
          </a:xfrm>
          <a:prstGeom prst="rect">
            <a:avLst/>
          </a:prstGeom>
          <a:solidFill>
            <a:srgbClr val="293548"/>
          </a:solidFill>
          <a:ln w="12700">
            <a:solidFill>
              <a:srgbClr val="29354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Buscar conteudo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just-in-time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867144" y="2221992"/>
            <a:ext cx="411480" cy="0"/>
          </a:xfrm>
          <a:prstGeom prst="line">
            <a:avLst/>
          </a:prstGeom>
          <a:noFill/>
          <a:ln w="12700">
            <a:solidFill>
              <a:srgbClr val="2A3B52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7488936" y="1828800"/>
            <a:ext cx="1600200" cy="512064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Context delta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488936" y="2523744"/>
            <a:ext cx="1600200" cy="804672"/>
          </a:xfrm>
          <a:prstGeom prst="rect">
            <a:avLst/>
          </a:prstGeom>
          <a:solidFill>
            <a:srgbClr val="293548"/>
          </a:solidFill>
          <a:ln w="12700">
            <a:solidFill>
              <a:srgbClr val="29354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Retornar apenas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 que mudou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134856" y="2221992"/>
            <a:ext cx="411480" cy="0"/>
          </a:xfrm>
          <a:prstGeom prst="line">
            <a:avLst/>
          </a:prstGeom>
          <a:noFill/>
          <a:ln w="12700">
            <a:solidFill>
              <a:srgbClr val="2A3B52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9756648" y="1828800"/>
            <a:ext cx="1600200" cy="5120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Manifest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756648" y="2523744"/>
            <a:ext cx="1600200" cy="804672"/>
          </a:xfrm>
          <a:prstGeom prst="rect">
            <a:avLst/>
          </a:prstGeom>
          <a:solidFill>
            <a:srgbClr val="293548"/>
          </a:solidFill>
          <a:ln w="12700">
            <a:solidFill>
              <a:srgbClr val="29354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Mapa de decisoes,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riscos e arquivos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14400" y="4160520"/>
            <a:ext cx="274320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Politica de limite sugerida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960120" y="4572000"/>
            <a:ext cx="20116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Context Packet</a:t>
            </a:r>
            <a:endParaRPr lang="en-US" sz="1180" dirty="0"/>
          </a:p>
        </p:txBody>
      </p:sp>
      <p:sp>
        <p:nvSpPr>
          <p:cNvPr id="22" name="Text 20"/>
          <p:cNvSpPr/>
          <p:nvPr/>
        </p:nvSpPr>
        <p:spPr>
          <a:xfrm>
            <a:off x="3063240" y="4572000"/>
            <a:ext cx="100584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38BD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800 tokens</a:t>
            </a:r>
            <a:endParaRPr lang="en-US" sz="1180" dirty="0"/>
          </a:p>
        </p:txBody>
      </p:sp>
      <p:sp>
        <p:nvSpPr>
          <p:cNvPr id="23" name="Text 21"/>
          <p:cNvSpPr/>
          <p:nvPr/>
        </p:nvSpPr>
        <p:spPr>
          <a:xfrm>
            <a:off x="960120" y="4846320"/>
            <a:ext cx="20116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Research Summary</a:t>
            </a:r>
            <a:endParaRPr lang="en-US" sz="1180" dirty="0"/>
          </a:p>
        </p:txBody>
      </p:sp>
      <p:sp>
        <p:nvSpPr>
          <p:cNvPr id="24" name="Text 22"/>
          <p:cNvSpPr/>
          <p:nvPr/>
        </p:nvSpPr>
        <p:spPr>
          <a:xfrm>
            <a:off x="3063240" y="4846320"/>
            <a:ext cx="100584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38BD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1000</a:t>
            </a:r>
            <a:endParaRPr lang="en-US" sz="1180" dirty="0"/>
          </a:p>
        </p:txBody>
      </p:sp>
      <p:sp>
        <p:nvSpPr>
          <p:cNvPr id="25" name="Text 23"/>
          <p:cNvSpPr/>
          <p:nvPr/>
        </p:nvSpPr>
        <p:spPr>
          <a:xfrm>
            <a:off x="960120" y="5120640"/>
            <a:ext cx="20116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Implementation Plan</a:t>
            </a:r>
            <a:endParaRPr lang="en-US" sz="1180" dirty="0"/>
          </a:p>
        </p:txBody>
      </p:sp>
      <p:sp>
        <p:nvSpPr>
          <p:cNvPr id="26" name="Text 24"/>
          <p:cNvSpPr/>
          <p:nvPr/>
        </p:nvSpPr>
        <p:spPr>
          <a:xfrm>
            <a:off x="3063240" y="5120640"/>
            <a:ext cx="100584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38BD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1500</a:t>
            </a:r>
            <a:endParaRPr lang="en-US" sz="1180" dirty="0"/>
          </a:p>
        </p:txBody>
      </p:sp>
      <p:sp>
        <p:nvSpPr>
          <p:cNvPr id="27" name="Text 25"/>
          <p:cNvSpPr/>
          <p:nvPr/>
        </p:nvSpPr>
        <p:spPr>
          <a:xfrm>
            <a:off x="960120" y="5394960"/>
            <a:ext cx="20116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Context Delta</a:t>
            </a:r>
            <a:endParaRPr lang="en-US" sz="1180" dirty="0"/>
          </a:p>
        </p:txBody>
      </p:sp>
      <p:sp>
        <p:nvSpPr>
          <p:cNvPr id="28" name="Text 26"/>
          <p:cNvSpPr/>
          <p:nvPr/>
        </p:nvSpPr>
        <p:spPr>
          <a:xfrm>
            <a:off x="3063240" y="5394960"/>
            <a:ext cx="100584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38BD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500</a:t>
            </a:r>
            <a:endParaRPr lang="en-US" sz="1180" dirty="0"/>
          </a:p>
        </p:txBody>
      </p:sp>
      <p:sp>
        <p:nvSpPr>
          <p:cNvPr id="29" name="Text 27"/>
          <p:cNvSpPr/>
          <p:nvPr/>
        </p:nvSpPr>
        <p:spPr>
          <a:xfrm>
            <a:off x="960120" y="5669280"/>
            <a:ext cx="20116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Final Agent Report</a:t>
            </a:r>
            <a:endParaRPr lang="en-US" sz="1180" dirty="0"/>
          </a:p>
        </p:txBody>
      </p:sp>
      <p:sp>
        <p:nvSpPr>
          <p:cNvPr id="30" name="Text 28"/>
          <p:cNvSpPr/>
          <p:nvPr/>
        </p:nvSpPr>
        <p:spPr>
          <a:xfrm>
            <a:off x="3063240" y="5669280"/>
            <a:ext cx="100584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38BD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700</a:t>
            </a:r>
            <a:endParaRPr lang="en-US" sz="1180" dirty="0"/>
          </a:p>
        </p:txBody>
      </p:sp>
      <p:sp>
        <p:nvSpPr>
          <p:cNvPr id="31" name="Text 29"/>
          <p:cNvSpPr/>
          <p:nvPr/>
        </p:nvSpPr>
        <p:spPr>
          <a:xfrm>
            <a:off x="5486400" y="4526280"/>
            <a:ext cx="50292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Use arquivos como memoria compartilhada, nao o chat history.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02920" y="652881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3C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Harness Engineering / Copilot Agents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8B3C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3891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Context Reset com Structured Handoff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89611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8B3C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Troca de turno: limpar a janela de contexto e passar apenas estado essencial.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2194560"/>
            <a:ext cx="1417320" cy="8229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Sessao 1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trabalha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148840" y="2606040"/>
            <a:ext cx="685800" cy="0"/>
          </a:xfrm>
          <a:prstGeom prst="line">
            <a:avLst/>
          </a:prstGeom>
          <a:noFill/>
          <a:ln w="15240">
            <a:solidFill>
              <a:srgbClr val="2A3B52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2926080" y="2194560"/>
            <a:ext cx="1417320" cy="822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Handoff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estruturado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2606040"/>
            <a:ext cx="685800" cy="0"/>
          </a:xfrm>
          <a:prstGeom prst="line">
            <a:avLst/>
          </a:prstGeom>
          <a:noFill/>
          <a:ln w="15240">
            <a:solidFill>
              <a:srgbClr val="2A3B52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5166360" y="2194560"/>
            <a:ext cx="1417320" cy="82296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Reset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 contexto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629400" y="2606040"/>
            <a:ext cx="685800" cy="0"/>
          </a:xfrm>
          <a:prstGeom prst="line">
            <a:avLst/>
          </a:prstGeom>
          <a:noFill/>
          <a:ln w="15240">
            <a:solidFill>
              <a:srgbClr val="2A3B52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7406640" y="2194560"/>
            <a:ext cx="1417320" cy="822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Sessao 2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limpa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869680" y="2606040"/>
            <a:ext cx="685800" cy="0"/>
          </a:xfrm>
          <a:prstGeom prst="line">
            <a:avLst/>
          </a:prstGeom>
          <a:noFill/>
          <a:ln w="15240">
            <a:solidFill>
              <a:srgbClr val="2A3B52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9646920" y="2194560"/>
            <a:ext cx="1417320" cy="8229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Continua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com evidencias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14400" y="3977640"/>
            <a:ext cx="2834640" cy="1554480"/>
          </a:xfrm>
          <a:prstGeom prst="rect">
            <a:avLst/>
          </a:prstGeom>
          <a:solidFill>
            <a:srgbClr val="293548"/>
          </a:solidFill>
          <a:ln w="12700">
            <a:solidFill>
              <a:srgbClr val="293548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 que entra no handoff: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- status atual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- feito / pendente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- arquivos alterados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- decisoes tomadas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- validacoes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- riscos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- proximo passo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17720" y="3977640"/>
            <a:ext cx="2834640" cy="1554480"/>
          </a:xfrm>
          <a:prstGeom prst="rect">
            <a:avLst/>
          </a:prstGeom>
          <a:solidFill>
            <a:srgbClr val="293548"/>
          </a:solidFill>
          <a:ln w="12700">
            <a:solidFill>
              <a:srgbClr val="293548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 que sai do contexto: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- logs antigos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- tentativas falhas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- mensagens irrelevantes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- ruido de ferramentas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- conversas longas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183880" y="4343400"/>
            <a:ext cx="283464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8BD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Fonte de verdade: handoff estruturado + filesystem + Git + testes.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02920" y="652881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3C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Harness Engineering / Copilot Agents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8B3C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3891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Cinco patterns de Agentic Workflows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89611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8B3C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Cada pattern resolve uma classe diferente de problema em fluxos com LLMs.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1554480"/>
            <a:ext cx="1664208" cy="71323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Prompt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Chaining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423160"/>
            <a:ext cx="169164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A8B3C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sequencia fixa</a:t>
            </a:r>
            <a:endParaRPr lang="en-US" sz="1120" dirty="0"/>
          </a:p>
        </p:txBody>
      </p:sp>
      <p:sp>
        <p:nvSpPr>
          <p:cNvPr id="8" name="Text 6"/>
          <p:cNvSpPr/>
          <p:nvPr/>
        </p:nvSpPr>
        <p:spPr>
          <a:xfrm>
            <a:off x="2944368" y="1554480"/>
            <a:ext cx="1664208" cy="7132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Routing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944368" y="2423160"/>
            <a:ext cx="169164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A8B3C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classificar e encaminhar</a:t>
            </a:r>
            <a:endParaRPr lang="en-US" sz="1120" dirty="0"/>
          </a:p>
        </p:txBody>
      </p:sp>
      <p:sp>
        <p:nvSpPr>
          <p:cNvPr id="10" name="Text 8"/>
          <p:cNvSpPr/>
          <p:nvPr/>
        </p:nvSpPr>
        <p:spPr>
          <a:xfrm>
            <a:off x="5202936" y="1554480"/>
            <a:ext cx="1664208" cy="71323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Orchestrator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Workers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202936" y="2423160"/>
            <a:ext cx="169164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A8B3C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decompor dinamicamente</a:t>
            </a:r>
            <a:endParaRPr lang="en-US" sz="1120" dirty="0"/>
          </a:p>
        </p:txBody>
      </p:sp>
      <p:sp>
        <p:nvSpPr>
          <p:cNvPr id="12" name="Text 10"/>
          <p:cNvSpPr/>
          <p:nvPr/>
        </p:nvSpPr>
        <p:spPr>
          <a:xfrm>
            <a:off x="7461504" y="1554480"/>
            <a:ext cx="1664208" cy="71323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Parallelization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461504" y="2423160"/>
            <a:ext cx="169164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A8B3C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executar em paralelo</a:t>
            </a:r>
            <a:endParaRPr lang="en-US" sz="1120" dirty="0"/>
          </a:p>
        </p:txBody>
      </p:sp>
      <p:sp>
        <p:nvSpPr>
          <p:cNvPr id="14" name="Text 12"/>
          <p:cNvSpPr/>
          <p:nvPr/>
        </p:nvSpPr>
        <p:spPr>
          <a:xfrm>
            <a:off x="9720072" y="1554480"/>
            <a:ext cx="1664208" cy="713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Evaluator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Optimizer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720072" y="2423160"/>
            <a:ext cx="169164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A8B3C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avaliar e melhorar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868680" y="3657600"/>
            <a:ext cx="274320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Uso recomendado no Copilot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" y="4069080"/>
            <a:ext cx="585216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8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Chaining como fluxo base previsivel</a:t>
            </a:r>
            <a:endParaRPr lang="en-US" sz="1380" dirty="0"/>
          </a:p>
          <a:p>
            <a:pPr marL="127000" indent="-127000">
              <a:buSzPct val="100000"/>
              <a:buChar char="•"/>
            </a:pPr>
            <a:r>
              <a:rPr lang="en-US" sz="138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Routing para escolher o agent certo</a:t>
            </a:r>
            <a:endParaRPr lang="en-US" sz="1380" dirty="0"/>
          </a:p>
          <a:p>
            <a:pPr marL="127000" indent="-127000">
              <a:buSzPct val="100000"/>
              <a:buChar char="•"/>
            </a:pPr>
            <a:r>
              <a:rPr lang="en-US" sz="138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Orchestrator-Workers para tarefas complexas e multi-arquivos</a:t>
            </a:r>
            <a:endParaRPr lang="en-US" sz="1380" dirty="0"/>
          </a:p>
          <a:p>
            <a:pPr marL="127000" indent="-127000">
              <a:buSzPct val="100000"/>
              <a:buChar char="•"/>
            </a:pPr>
            <a:r>
              <a:rPr lang="en-US" sz="138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Parallelization para reviews independentes</a:t>
            </a:r>
            <a:endParaRPr lang="en-US" sz="1380" dirty="0"/>
          </a:p>
          <a:p>
            <a:pPr marL="127000" indent="-127000">
              <a:buSzPct val="100000"/>
              <a:buChar char="•"/>
            </a:pPr>
            <a:r>
              <a:rPr lang="en-US" sz="138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Evaluator-Optimizer para correcao controlada</a:t>
            </a:r>
            <a:endParaRPr lang="en-US" sz="1380" dirty="0"/>
          </a:p>
        </p:txBody>
      </p:sp>
      <p:sp>
        <p:nvSpPr>
          <p:cNvPr id="18" name="Text 16"/>
          <p:cNvSpPr/>
          <p:nvPr/>
        </p:nvSpPr>
        <p:spPr>
          <a:xfrm>
            <a:off x="7360920" y="3913632"/>
            <a:ext cx="3337560" cy="1051560"/>
          </a:xfrm>
          <a:prstGeom prst="rect">
            <a:avLst/>
          </a:prstGeom>
          <a:solidFill>
            <a:srgbClr val="293548"/>
          </a:solidFill>
          <a:ln w="12700">
            <a:solidFill>
              <a:srgbClr val="29354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 criterio de escolha e a natureza da tarefa: sequencial, categorizavel, dinamica, independente ou iterativa.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02920" y="652881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3C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Harness Engineering / Copilot Agents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8B3C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3891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Prompt Chaining e Routing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89611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8B3C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Dois patterns basicos: decompor passos fixos e direcionar para o especialista correto.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22960" y="1325880"/>
            <a:ext cx="274320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Prompt Chaining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1965960"/>
            <a:ext cx="822960" cy="475488"/>
          </a:xfrm>
          <a:prstGeom prst="rect">
            <a:avLst/>
          </a:prstGeom>
          <a:solidFill>
            <a:srgbClr val="293548"/>
          </a:solidFill>
          <a:ln w="12700">
            <a:solidFill>
              <a:srgbClr val="29354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Analisar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645920" y="2203704"/>
            <a:ext cx="164592" cy="0"/>
          </a:xfrm>
          <a:prstGeom prst="line">
            <a:avLst/>
          </a:prstGeom>
          <a:noFill/>
          <a:ln w="12700">
            <a:solidFill>
              <a:srgbClr val="2A3B52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1828800" y="1965960"/>
            <a:ext cx="822960" cy="47548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Gate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651760" y="2203704"/>
            <a:ext cx="164592" cy="0"/>
          </a:xfrm>
          <a:prstGeom prst="line">
            <a:avLst/>
          </a:prstGeom>
          <a:noFill/>
          <a:ln w="12700">
            <a:solidFill>
              <a:srgbClr val="2A3B52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2834640" y="1965960"/>
            <a:ext cx="822960" cy="475488"/>
          </a:xfrm>
          <a:prstGeom prst="rect">
            <a:avLst/>
          </a:prstGeom>
          <a:solidFill>
            <a:srgbClr val="293548"/>
          </a:solidFill>
          <a:ln w="12700">
            <a:solidFill>
              <a:srgbClr val="29354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Planejar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0" y="2203704"/>
            <a:ext cx="164592" cy="0"/>
          </a:xfrm>
          <a:prstGeom prst="line">
            <a:avLst/>
          </a:prstGeom>
          <a:noFill/>
          <a:ln w="12700">
            <a:solidFill>
              <a:srgbClr val="2A3B52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3840480" y="1965960"/>
            <a:ext cx="822960" cy="475488"/>
          </a:xfrm>
          <a:prstGeom prst="rect">
            <a:avLst/>
          </a:prstGeom>
          <a:solidFill>
            <a:srgbClr val="293548"/>
          </a:solidFill>
          <a:ln w="12700">
            <a:solidFill>
              <a:srgbClr val="29354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Implementar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63440" y="2203704"/>
            <a:ext cx="164592" cy="0"/>
          </a:xfrm>
          <a:prstGeom prst="line">
            <a:avLst/>
          </a:prstGeom>
          <a:noFill/>
          <a:ln w="12700">
            <a:solidFill>
              <a:srgbClr val="2A3B52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4846320" y="1965960"/>
            <a:ext cx="822960" cy="475488"/>
          </a:xfrm>
          <a:prstGeom prst="rect">
            <a:avLst/>
          </a:prstGeom>
          <a:solidFill>
            <a:srgbClr val="293548"/>
          </a:solidFill>
          <a:ln w="12700">
            <a:solidFill>
              <a:srgbClr val="29354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Revisar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68680" y="2816352"/>
            <a:ext cx="452628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A8B3C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Use quando a tarefa tem etapas claras e dependentes. Evite para tarefas simples.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00800" y="1325880"/>
            <a:ext cx="274320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Routing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537960" y="2057400"/>
            <a:ext cx="82296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Input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60920" y="2286000"/>
            <a:ext cx="685800" cy="0"/>
          </a:xfrm>
          <a:prstGeom prst="line">
            <a:avLst/>
          </a:prstGeom>
          <a:noFill/>
          <a:ln w="15240">
            <a:solidFill>
              <a:srgbClr val="34D399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8046720" y="2011680"/>
            <a:ext cx="914400" cy="56692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Router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961120" y="2295144"/>
            <a:ext cx="685800" cy="-649224"/>
          </a:xfrm>
          <a:prstGeom prst="line">
            <a:avLst/>
          </a:prstGeom>
          <a:noFill/>
          <a:ln w="11430">
            <a:solidFill>
              <a:srgbClr val="2A3B52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9646920" y="1417320"/>
            <a:ext cx="1234440" cy="457200"/>
          </a:xfrm>
          <a:prstGeom prst="rect">
            <a:avLst/>
          </a:prstGeom>
          <a:solidFill>
            <a:srgbClr val="293548"/>
          </a:solidFill>
          <a:ln w="12700">
            <a:solidFill>
              <a:srgbClr val="29354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Frontend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961120" y="2295144"/>
            <a:ext cx="685800" cy="9144"/>
          </a:xfrm>
          <a:prstGeom prst="line">
            <a:avLst/>
          </a:prstGeom>
          <a:noFill/>
          <a:ln w="11430">
            <a:solidFill>
              <a:srgbClr val="2A3B52"/>
            </a:solidFill>
            <a:prstDash val="solid"/>
            <a:headEnd type="none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9646920" y="2075688"/>
            <a:ext cx="1234440" cy="457200"/>
          </a:xfrm>
          <a:prstGeom prst="rect">
            <a:avLst/>
          </a:prstGeom>
          <a:solidFill>
            <a:srgbClr val="293548"/>
          </a:solidFill>
          <a:ln w="12700">
            <a:solidFill>
              <a:srgbClr val="29354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Backend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961120" y="2295144"/>
            <a:ext cx="685800" cy="667512"/>
          </a:xfrm>
          <a:prstGeom prst="line">
            <a:avLst/>
          </a:prstGeom>
          <a:noFill/>
          <a:ln w="11430">
            <a:solidFill>
              <a:srgbClr val="2A3B52"/>
            </a:solidFill>
            <a:prstDash val="solid"/>
            <a:headEnd type="none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9646920" y="2734056"/>
            <a:ext cx="1234440" cy="457200"/>
          </a:xfrm>
          <a:prstGeom prst="rect">
            <a:avLst/>
          </a:prstGeom>
          <a:solidFill>
            <a:srgbClr val="293548"/>
          </a:solidFill>
          <a:ln w="12700">
            <a:solidFill>
              <a:srgbClr val="29354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Tests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961120" y="2295144"/>
            <a:ext cx="685800" cy="1325880"/>
          </a:xfrm>
          <a:prstGeom prst="line">
            <a:avLst/>
          </a:prstGeom>
          <a:noFill/>
          <a:ln w="11430">
            <a:solidFill>
              <a:srgbClr val="2A3B52"/>
            </a:solidFill>
            <a:prstDash val="solid"/>
            <a:headEnd type="none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9646920" y="3392424"/>
            <a:ext cx="1234440" cy="457200"/>
          </a:xfrm>
          <a:prstGeom prst="rect">
            <a:avLst/>
          </a:prstGeom>
          <a:solidFill>
            <a:srgbClr val="293548"/>
          </a:solidFill>
          <a:ln w="12700">
            <a:solidFill>
              <a:srgbClr val="29354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Security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00800" y="4297680"/>
            <a:ext cx="452628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A8B3C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Use quando ha categorias distintas. Cuidado: roteamento ambiguo manda a tarefa ao agent errado.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502920" y="652881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3C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Harness Engineering / Copilot Agents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8B3C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3891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Orchestrator-Workers x Parallelization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89611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8B3C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 diferenca principal e se as subtarefas ja sao conhecidas antes.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22960" y="1325880"/>
            <a:ext cx="320040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Orchestrator-Workers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920240" y="2011680"/>
            <a:ext cx="1417320" cy="64008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Orchestrator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descobre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06040" y="2651760"/>
            <a:ext cx="-1143000" cy="457200"/>
          </a:xfrm>
          <a:prstGeom prst="line">
            <a:avLst/>
          </a:prstGeom>
          <a:noFill/>
          <a:ln w="10160">
            <a:solidFill>
              <a:srgbClr val="2A3B52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731520" y="3108960"/>
            <a:ext cx="1234440" cy="457200"/>
          </a:xfrm>
          <a:prstGeom prst="rect">
            <a:avLst/>
          </a:prstGeom>
          <a:solidFill>
            <a:srgbClr val="293548"/>
          </a:solidFill>
          <a:ln w="12700">
            <a:solidFill>
              <a:srgbClr val="29354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Pesquisar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2606040" y="2651760"/>
            <a:ext cx="365760" cy="457200"/>
          </a:xfrm>
          <a:prstGeom prst="line">
            <a:avLst/>
          </a:prstGeom>
          <a:noFill/>
          <a:ln w="10160">
            <a:solidFill>
              <a:srgbClr val="2A3B52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2240280" y="3108960"/>
            <a:ext cx="1234440" cy="457200"/>
          </a:xfrm>
          <a:prstGeom prst="rect">
            <a:avLst/>
          </a:prstGeom>
          <a:solidFill>
            <a:srgbClr val="293548"/>
          </a:solidFill>
          <a:ln w="12700">
            <a:solidFill>
              <a:srgbClr val="29354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Alterar front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2606040" y="2651760"/>
            <a:ext cx="1874520" cy="457200"/>
          </a:xfrm>
          <a:prstGeom prst="line">
            <a:avLst/>
          </a:prstGeom>
          <a:noFill/>
          <a:ln w="10160">
            <a:solidFill>
              <a:srgbClr val="2A3B52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3749040" y="3108960"/>
            <a:ext cx="1234440" cy="457200"/>
          </a:xfrm>
          <a:prstGeom prst="rect">
            <a:avLst/>
          </a:prstGeom>
          <a:solidFill>
            <a:srgbClr val="293548"/>
          </a:solidFill>
          <a:ln w="12700">
            <a:solidFill>
              <a:srgbClr val="29354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Alterar back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2606040" y="2651760"/>
            <a:ext cx="-1143000" cy="1325880"/>
          </a:xfrm>
          <a:prstGeom prst="line">
            <a:avLst/>
          </a:prstGeom>
          <a:noFill/>
          <a:ln w="10160">
            <a:solidFill>
              <a:srgbClr val="2A3B52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731520" y="3977640"/>
            <a:ext cx="1234440" cy="457200"/>
          </a:xfrm>
          <a:prstGeom prst="rect">
            <a:avLst/>
          </a:prstGeom>
          <a:solidFill>
            <a:srgbClr val="293548"/>
          </a:solidFill>
          <a:ln w="12700">
            <a:solidFill>
              <a:srgbClr val="29354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Criar testes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2606040" y="2651760"/>
            <a:ext cx="365760" cy="1325880"/>
          </a:xfrm>
          <a:prstGeom prst="line">
            <a:avLst/>
          </a:prstGeom>
          <a:noFill/>
          <a:ln w="10160">
            <a:solidFill>
              <a:srgbClr val="2A3B52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2240280" y="3977640"/>
            <a:ext cx="1234440" cy="457200"/>
          </a:xfrm>
          <a:prstGeom prst="rect">
            <a:avLst/>
          </a:prstGeom>
          <a:solidFill>
            <a:srgbClr val="293548"/>
          </a:solidFill>
          <a:ln w="12700">
            <a:solidFill>
              <a:srgbClr val="29354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Revisar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822960" y="5166360"/>
            <a:ext cx="438912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A8B3C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Use quando a tarefa e complexa e o numero de passos depende do input.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00800" y="1325880"/>
            <a:ext cx="320040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B923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Parallelization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046720" y="2011680"/>
            <a:ext cx="1234440" cy="64008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Mudanca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concluida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659368" y="2651760"/>
            <a:ext cx="-1801368" cy="411480"/>
          </a:xfrm>
          <a:prstGeom prst="line">
            <a:avLst/>
          </a:prstGeom>
          <a:noFill/>
          <a:ln w="10160">
            <a:solidFill>
              <a:srgbClr val="2A3B52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6263640" y="3063240"/>
            <a:ext cx="1417320" cy="457200"/>
          </a:xfrm>
          <a:prstGeom prst="rect">
            <a:avLst/>
          </a:prstGeom>
          <a:solidFill>
            <a:srgbClr val="293548"/>
          </a:solidFill>
          <a:ln w="12700">
            <a:solidFill>
              <a:srgbClr val="29354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Security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659368" y="2651760"/>
            <a:ext cx="393192" cy="411480"/>
          </a:xfrm>
          <a:prstGeom prst="line">
            <a:avLst/>
          </a:prstGeom>
          <a:noFill/>
          <a:ln w="10160">
            <a:solidFill>
              <a:srgbClr val="2A3B52"/>
            </a:solidFill>
            <a:prstDash val="solid"/>
            <a:headEnd type="none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8458200" y="3063240"/>
            <a:ext cx="1417320" cy="457200"/>
          </a:xfrm>
          <a:prstGeom prst="rect">
            <a:avLst/>
          </a:prstGeom>
          <a:solidFill>
            <a:srgbClr val="293548"/>
          </a:solidFill>
          <a:ln w="12700">
            <a:solidFill>
              <a:srgbClr val="29354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Perf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659368" y="2651760"/>
            <a:ext cx="-1801368" cy="1234440"/>
          </a:xfrm>
          <a:prstGeom prst="line">
            <a:avLst/>
          </a:prstGeom>
          <a:noFill/>
          <a:ln w="10160">
            <a:solidFill>
              <a:srgbClr val="2A3B52"/>
            </a:solidFill>
            <a:prstDash val="solid"/>
            <a:headEnd type="none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6263640" y="3886200"/>
            <a:ext cx="1417320" cy="457200"/>
          </a:xfrm>
          <a:prstGeom prst="rect">
            <a:avLst/>
          </a:prstGeom>
          <a:solidFill>
            <a:srgbClr val="293548"/>
          </a:solidFill>
          <a:ln w="12700">
            <a:solidFill>
              <a:srgbClr val="29354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Tests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659368" y="2651760"/>
            <a:ext cx="393192" cy="1234440"/>
          </a:xfrm>
          <a:prstGeom prst="line">
            <a:avLst/>
          </a:prstGeom>
          <a:noFill/>
          <a:ln w="10160">
            <a:solidFill>
              <a:srgbClr val="2A3B52"/>
            </a:solidFill>
            <a:prstDash val="solid"/>
            <a:headEnd type="none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8458200" y="3886200"/>
            <a:ext cx="1417320" cy="457200"/>
          </a:xfrm>
          <a:prstGeom prst="rect">
            <a:avLst/>
          </a:prstGeom>
          <a:solidFill>
            <a:srgbClr val="293548"/>
          </a:solidFill>
          <a:ln w="12700">
            <a:solidFill>
              <a:srgbClr val="29354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UX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00800" y="5166360"/>
            <a:ext cx="438912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A8B3C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Use quando as analises sao independentes ou quando voting aumenta confianca.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502920" y="652881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3C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Harness Engineering / Copilot Agents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8B3C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3891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Evaluator-Optimizer e separacao de papeis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89611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8B3C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 agente que gera a solucao nao deve ser a unica autoridade sobre a conclusao.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051560" y="1965960"/>
            <a:ext cx="1600200" cy="6858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Planner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plano e contexto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697480" y="2304288"/>
            <a:ext cx="960120" cy="0"/>
          </a:xfrm>
          <a:prstGeom prst="line">
            <a:avLst/>
          </a:prstGeom>
          <a:noFill/>
          <a:ln w="15240">
            <a:solidFill>
              <a:srgbClr val="2A3B52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3657600" y="1965960"/>
            <a:ext cx="1600200" cy="6858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Generator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implementa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257800" y="2304288"/>
            <a:ext cx="1005840" cy="0"/>
          </a:xfrm>
          <a:prstGeom prst="line">
            <a:avLst/>
          </a:prstGeom>
          <a:noFill/>
          <a:ln w="15240">
            <a:solidFill>
              <a:srgbClr val="2A3B52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6263640" y="1965960"/>
            <a:ext cx="1691640" cy="6858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Evaluator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avalia com evidencia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086600" y="2651760"/>
            <a:ext cx="-2514600" cy="1508760"/>
          </a:xfrm>
          <a:prstGeom prst="line">
            <a:avLst/>
          </a:prstGeom>
          <a:noFill/>
          <a:ln w="16510">
            <a:solidFill>
              <a:srgbClr val="FB923C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3794760" y="4023360"/>
            <a:ext cx="1463040" cy="59436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Feedback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objetivo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26280" y="4005072"/>
            <a:ext cx="0" cy="-1353312"/>
          </a:xfrm>
          <a:prstGeom prst="line">
            <a:avLst/>
          </a:prstGeom>
          <a:noFill/>
          <a:ln w="16510">
            <a:solidFill>
              <a:srgbClr val="FB923C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8686800" y="1691640"/>
            <a:ext cx="2148840" cy="1417320"/>
          </a:xfrm>
          <a:prstGeom prst="rect">
            <a:avLst/>
          </a:prstGeom>
          <a:solidFill>
            <a:srgbClr val="293548"/>
          </a:solidFill>
          <a:ln w="12700">
            <a:solidFill>
              <a:srgbClr val="293548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Criterios de parada: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- build passa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- testes passam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- lint passa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- aceite verificado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- escopo preservado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88720" y="5166360"/>
            <a:ext cx="896112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A8B3C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Evaluator tambem precisa de ferramentas: testes, lint, diff, contrato de API, screenshots ou validacao E2E.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02920" y="652881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3C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Harness Engineering / Copilot Agents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8B3C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3891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Quatro falhas comuns em LLMs agentes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89611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8B3C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 Harness existe para impedir que esses problemas virem falsa produtividade.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77240" y="1737360"/>
            <a:ext cx="2057400" cy="68580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One-shots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everything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651760"/>
            <a:ext cx="2057400" cy="658368"/>
          </a:xfrm>
          <a:prstGeom prst="rect">
            <a:avLst/>
          </a:prstGeom>
          <a:solidFill>
            <a:srgbClr val="293548"/>
          </a:solidFill>
          <a:ln w="12700">
            <a:solidFill>
              <a:srgbClr val="29354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Tenta resolver tudo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em uma tacada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566160" y="1737360"/>
            <a:ext cx="2057400" cy="68580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Runs out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of context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566160" y="2651760"/>
            <a:ext cx="2057400" cy="658368"/>
          </a:xfrm>
          <a:prstGeom prst="rect">
            <a:avLst/>
          </a:prstGeom>
          <a:solidFill>
            <a:srgbClr val="293548"/>
          </a:solidFill>
          <a:ln w="12700">
            <a:solidFill>
              <a:srgbClr val="29354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Perde foco ou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restricoes antigas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355080" y="1737360"/>
            <a:ext cx="2057400" cy="6858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Leave work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half-finished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55080" y="2651760"/>
            <a:ext cx="2057400" cy="658368"/>
          </a:xfrm>
          <a:prstGeom prst="rect">
            <a:avLst/>
          </a:prstGeom>
          <a:solidFill>
            <a:srgbClr val="293548"/>
          </a:solidFill>
          <a:ln w="12700">
            <a:solidFill>
              <a:srgbClr val="29354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Deixa a branch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inconsistente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0" y="1737360"/>
            <a:ext cx="2057400" cy="6858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Declares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done early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0" y="2651760"/>
            <a:ext cx="2057400" cy="658368"/>
          </a:xfrm>
          <a:prstGeom prst="rect">
            <a:avLst/>
          </a:prstGeom>
          <a:solidFill>
            <a:srgbClr val="293548"/>
          </a:solidFill>
          <a:ln w="12700">
            <a:solidFill>
              <a:srgbClr val="29354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Confunde codigo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com feature pronta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4069080"/>
            <a:ext cx="228600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Contramedidas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4400" y="4480560"/>
            <a:ext cx="566928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40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features pequenas</a:t>
            </a:r>
            <a:endParaRPr lang="en-US" sz="1400" dirty="0"/>
          </a:p>
          <a:p>
            <a:pPr marL="127000" indent="-127000">
              <a:buSzPct val="100000"/>
              <a:buChar char="•"/>
            </a:pPr>
            <a:r>
              <a:rPr lang="en-US" sz="140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context packets</a:t>
            </a:r>
            <a:endParaRPr lang="en-US" sz="1400" dirty="0"/>
          </a:p>
          <a:p>
            <a:pPr marL="127000" indent="-127000">
              <a:buSzPct val="100000"/>
              <a:buChar char="•"/>
            </a:pPr>
            <a:r>
              <a:rPr lang="en-US" sz="140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clean handoff</a:t>
            </a:r>
            <a:endParaRPr lang="en-US" sz="1400" dirty="0"/>
          </a:p>
          <a:p>
            <a:pPr marL="127000" indent="-127000">
              <a:buSzPct val="100000"/>
              <a:buChar char="•"/>
            </a:pPr>
            <a:r>
              <a:rPr lang="en-US" sz="140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definition of done com evidencias</a:t>
            </a:r>
            <a:endParaRPr lang="en-US" sz="1400" dirty="0"/>
          </a:p>
          <a:p>
            <a:pPr marL="127000" indent="-127000">
              <a:buSzPct val="100000"/>
              <a:buChar char="•"/>
            </a:pPr>
            <a:r>
              <a:rPr lang="en-US" sz="140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test agent + reviewer separado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132320" y="4389120"/>
            <a:ext cx="3520440" cy="8686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Regra: codigo escrito nao e feature pronta. Pronto exige evidencia.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02920" y="652881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3C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Harness Engineering / Copilot Agents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8B3C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3891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Agent Poor Self Evaluation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89611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8B3C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 agente avalia mal o proprio trabalho quando julga pelo transcript, nao pelo outcome.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2194560" cy="8229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Transcript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"Implementei e testei"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46120" y="2377440"/>
            <a:ext cx="1234440" cy="0"/>
          </a:xfrm>
          <a:prstGeom prst="line">
            <a:avLst/>
          </a:prstGeom>
          <a:noFill/>
          <a:ln w="19050">
            <a:solidFill>
              <a:srgbClr val="F87171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4480560" y="1965960"/>
            <a:ext cx="1645920" cy="8229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Falsa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confianca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12280" y="1874520"/>
            <a:ext cx="2286000" cy="10058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Outcome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Build? Testes? Tela?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API preservada?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89720" y="2377440"/>
            <a:ext cx="960120" cy="0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10149840" y="1965960"/>
            <a:ext cx="1325880" cy="822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Evidencia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verificavel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3886200"/>
            <a:ext cx="137160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BBF24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Sintomas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60120" y="4251960"/>
            <a:ext cx="402336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5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declara done cedo</a:t>
            </a:r>
            <a:endParaRPr lang="en-US" sz="1350" dirty="0"/>
          </a:p>
          <a:p>
            <a:pPr marL="127000" indent="-127000">
              <a:buSzPct val="100000"/>
              <a:buChar char="•"/>
            </a:pPr>
            <a:r>
              <a:rPr lang="en-US" sz="135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ignora edge cases</a:t>
            </a:r>
            <a:endParaRPr lang="en-US" sz="1350" dirty="0"/>
          </a:p>
          <a:p>
            <a:pPr marL="127000" indent="-127000">
              <a:buSzPct val="100000"/>
              <a:buChar char="•"/>
            </a:pPr>
            <a:r>
              <a:rPr lang="en-US" sz="135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aceita evidencia fraca</a:t>
            </a:r>
            <a:endParaRPr lang="en-US" sz="1350" dirty="0"/>
          </a:p>
          <a:p>
            <a:pPr marL="127000" indent="-127000">
              <a:buSzPct val="100000"/>
              <a:buChar char="•"/>
            </a:pPr>
            <a:r>
              <a:rPr lang="en-US" sz="135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confunde build com funcionamento</a:t>
            </a:r>
            <a:endParaRPr lang="en-US" sz="1350" dirty="0"/>
          </a:p>
          <a:p>
            <a:pPr marL="127000" indent="-127000">
              <a:buSzPct val="100000"/>
              <a:buChar char="•"/>
            </a:pPr>
            <a:r>
              <a:rPr lang="en-US" sz="135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nao percebe regressao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92240" y="3886200"/>
            <a:ext cx="137160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8BD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Correcao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537960" y="4251960"/>
            <a:ext cx="448056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5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test agent valida criterios</a:t>
            </a:r>
            <a:endParaRPr lang="en-US" sz="1350" dirty="0"/>
          </a:p>
          <a:p>
            <a:pPr marL="127000" indent="-127000">
              <a:buSzPct val="100000"/>
              <a:buChar char="•"/>
            </a:pPr>
            <a:r>
              <a:rPr lang="en-US" sz="135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reviewer verifica escopo e riscos</a:t>
            </a:r>
            <a:endParaRPr lang="en-US" sz="1350" dirty="0"/>
          </a:p>
          <a:p>
            <a:pPr marL="127000" indent="-127000">
              <a:buSzPct val="100000"/>
              <a:buChar char="•"/>
            </a:pPr>
            <a:r>
              <a:rPr lang="en-US" sz="135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orchestrator decide status final</a:t>
            </a:r>
            <a:endParaRPr lang="en-US" sz="1350" dirty="0"/>
          </a:p>
          <a:p>
            <a:pPr marL="127000" indent="-127000">
              <a:buSzPct val="100000"/>
              <a:buChar char="•"/>
            </a:pPr>
            <a:r>
              <a:rPr lang="en-US" sz="135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implementation agent apenas relata o que fez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02920" y="652881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3C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Harness Engineering / Copilot Agents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8B3C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19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3891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Definition of Done para Agents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89611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8B3C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 agente so pode declarar conclusao quando cada criterio tiver status e evidencia.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22960" y="1325880"/>
            <a:ext cx="3749040" cy="38404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Criterio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0" y="1325880"/>
            <a:ext cx="1417320" cy="38404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Status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46520" y="1325880"/>
            <a:ext cx="4389120" cy="38404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Evidencia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1755648"/>
            <a:ext cx="3749040" cy="347472"/>
          </a:xfrm>
          <a:prstGeom prst="rect">
            <a:avLst/>
          </a:prstGeom>
          <a:solidFill>
            <a:srgbClr val="293548"/>
          </a:solidFill>
          <a:ln w="12700">
            <a:solidFill>
              <a:srgbClr val="29354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Acceptance criteria verificados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754880" y="1755648"/>
            <a:ext cx="1417320" cy="3474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Passed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46520" y="1755648"/>
            <a:ext cx="4389120" cy="347472"/>
          </a:xfrm>
          <a:prstGeom prst="rect">
            <a:avLst/>
          </a:prstGeom>
          <a:solidFill>
            <a:srgbClr val="293548"/>
          </a:solidFill>
          <a:ln w="12700">
            <a:solidFill>
              <a:srgbClr val="29354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Checklist item a item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22960" y="2249424"/>
            <a:ext cx="3749040" cy="347472"/>
          </a:xfrm>
          <a:prstGeom prst="rect">
            <a:avLst/>
          </a:prstGeom>
          <a:solidFill>
            <a:srgbClr val="293548"/>
          </a:solidFill>
          <a:ln w="12700">
            <a:solidFill>
              <a:srgbClr val="29354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Build executado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754880" y="2249424"/>
            <a:ext cx="1417320" cy="3474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Passed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46520" y="2249424"/>
            <a:ext cx="4389120" cy="347472"/>
          </a:xfrm>
          <a:prstGeom prst="rect">
            <a:avLst/>
          </a:prstGeom>
          <a:solidFill>
            <a:srgbClr val="293548"/>
          </a:solidFill>
          <a:ln w="12700">
            <a:solidFill>
              <a:srgbClr val="29354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comando + resultado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22960" y="2743200"/>
            <a:ext cx="3749040" cy="347472"/>
          </a:xfrm>
          <a:prstGeom prst="rect">
            <a:avLst/>
          </a:prstGeom>
          <a:solidFill>
            <a:srgbClr val="293548"/>
          </a:solidFill>
          <a:ln w="12700">
            <a:solidFill>
              <a:srgbClr val="29354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Testes relevantes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54880" y="2743200"/>
            <a:ext cx="1417320" cy="3474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Passed/Failed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46520" y="2743200"/>
            <a:ext cx="4389120" cy="347472"/>
          </a:xfrm>
          <a:prstGeom prst="rect">
            <a:avLst/>
          </a:prstGeom>
          <a:solidFill>
            <a:srgbClr val="293548"/>
          </a:solidFill>
          <a:ln w="12700">
            <a:solidFill>
              <a:srgbClr val="29354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suite e falhas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22960" y="3236976"/>
            <a:ext cx="3749040" cy="347472"/>
          </a:xfrm>
          <a:prstGeom prst="rect">
            <a:avLst/>
          </a:prstGeom>
          <a:solidFill>
            <a:srgbClr val="293548"/>
          </a:solidFill>
          <a:ln w="12700">
            <a:solidFill>
              <a:srgbClr val="29354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Lint/typecheck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54880" y="3236976"/>
            <a:ext cx="1417320" cy="34747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Passed/Not run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46520" y="3236976"/>
            <a:ext cx="4389120" cy="347472"/>
          </a:xfrm>
          <a:prstGeom prst="rect">
            <a:avLst/>
          </a:prstGeom>
          <a:solidFill>
            <a:srgbClr val="293548"/>
          </a:solidFill>
          <a:ln w="12700">
            <a:solidFill>
              <a:srgbClr val="29354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motivo se nao rodou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22960" y="3730752"/>
            <a:ext cx="3749040" cy="347472"/>
          </a:xfrm>
          <a:prstGeom prst="rect">
            <a:avLst/>
          </a:prstGeom>
          <a:solidFill>
            <a:srgbClr val="293548"/>
          </a:solidFill>
          <a:ln w="12700">
            <a:solidFill>
              <a:srgbClr val="29354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Riscos e gaps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754880" y="3730752"/>
            <a:ext cx="1417320" cy="34747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Declarados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46520" y="3730752"/>
            <a:ext cx="4389120" cy="347472"/>
          </a:xfrm>
          <a:prstGeom prst="rect">
            <a:avLst/>
          </a:prstGeom>
          <a:solidFill>
            <a:srgbClr val="293548"/>
          </a:solidFill>
          <a:ln w="12700">
            <a:solidFill>
              <a:srgbClr val="29354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lista explicita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22960" y="4224528"/>
            <a:ext cx="3749040" cy="347472"/>
          </a:xfrm>
          <a:prstGeom prst="rect">
            <a:avLst/>
          </a:prstGeom>
          <a:solidFill>
            <a:srgbClr val="293548"/>
          </a:solidFill>
          <a:ln w="12700">
            <a:solidFill>
              <a:srgbClr val="29354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Itens nao validados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754880" y="4224528"/>
            <a:ext cx="1417320" cy="34747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Not validated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46520" y="4224528"/>
            <a:ext cx="4389120" cy="347472"/>
          </a:xfrm>
          <a:prstGeom prst="rect">
            <a:avLst/>
          </a:prstGeom>
          <a:solidFill>
            <a:srgbClr val="293548"/>
          </a:solidFill>
          <a:ln w="12700">
            <a:solidFill>
              <a:srgbClr val="29354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nunca esconder incerteza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828800" y="5257800"/>
            <a:ext cx="8412480" cy="5943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Nunca trate sua propria confianca como evidencia.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02920" y="652881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3C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Harness Engineering / Copilot Agents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8B3C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20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3891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Ralph Wiggum Loop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89611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8B3C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Persistencia controlada: repetir ciclos curtos ate passar por criterios objetivos ou atingir limite.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0" y="1234440"/>
            <a:ext cx="1188720" cy="6400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Spec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clara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818120" y="2240280"/>
            <a:ext cx="1188720" cy="6400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Agente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tenta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0" y="4526280"/>
            <a:ext cx="1188720" cy="64008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Testes /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build / lint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703320" y="4526280"/>
            <a:ext cx="1188720" cy="64008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Falhou?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novo ciclo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154680" y="2240280"/>
            <a:ext cx="1188720" cy="6400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Passou?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concluir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80760" y="1874520"/>
            <a:ext cx="1737360" cy="667512"/>
          </a:xfrm>
          <a:prstGeom prst="line">
            <a:avLst/>
          </a:prstGeom>
          <a:noFill/>
          <a:ln w="15240">
            <a:solidFill>
              <a:srgbClr val="2A3B52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412480" y="2880360"/>
            <a:ext cx="-914400" cy="1645920"/>
          </a:xfrm>
          <a:prstGeom prst="line">
            <a:avLst/>
          </a:prstGeom>
          <a:noFill/>
          <a:ln w="15240">
            <a:solidFill>
              <a:srgbClr val="2A3B52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812280" y="4846320"/>
            <a:ext cx="-1920240" cy="0"/>
          </a:xfrm>
          <a:prstGeom prst="line">
            <a:avLst/>
          </a:prstGeom>
          <a:noFill/>
          <a:ln w="15240">
            <a:solidFill>
              <a:srgbClr val="2A3B52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279392" y="4526280"/>
            <a:ext cx="-576072" cy="-1645920"/>
          </a:xfrm>
          <a:prstGeom prst="line">
            <a:avLst/>
          </a:prstGeom>
          <a:noFill/>
          <a:ln w="15240">
            <a:solidFill>
              <a:srgbClr val="2A3B52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343400" y="2542032"/>
            <a:ext cx="1097280" cy="-758952"/>
          </a:xfrm>
          <a:prstGeom prst="line">
            <a:avLst/>
          </a:prstGeom>
          <a:noFill/>
          <a:ln w="15240">
            <a:solidFill>
              <a:srgbClr val="2A3B52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914400" y="5623560"/>
            <a:ext cx="100584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A8B3C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 inteligencia esta menos no prompt isolado e mais no harness: filesystem, git diff, testes e criterio de parada.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22960" y="2011680"/>
            <a:ext cx="1874520" cy="1325880"/>
          </a:xfrm>
          <a:prstGeom prst="rect">
            <a:avLst/>
          </a:prstGeom>
          <a:solidFill>
            <a:srgbClr val="293548"/>
          </a:solidFill>
          <a:ln w="12700">
            <a:solidFill>
              <a:srgbClr val="293548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Cuidados: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- task pequena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- testes rapidos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- limite de iteracoes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- criterio objetivo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652881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3C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Harness Engineering / Copilot Agents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8B3C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21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3891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Restricoes arquiteturais e controle de entropia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89611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8B3C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 Harness deve impor regras mecanicamente e limpar desvios acumulados.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22960" y="1325880"/>
            <a:ext cx="292608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Dependency layering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011680"/>
            <a:ext cx="822960" cy="47548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Types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600200" y="2249424"/>
            <a:ext cx="137160" cy="0"/>
          </a:xfrm>
          <a:prstGeom prst="line">
            <a:avLst/>
          </a:prstGeom>
          <a:noFill/>
          <a:ln w="12700">
            <a:solidFill>
              <a:srgbClr val="2A3B52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1737360" y="2011680"/>
            <a:ext cx="822960" cy="47548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Config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0" y="2249424"/>
            <a:ext cx="137160" cy="0"/>
          </a:xfrm>
          <a:prstGeom prst="line">
            <a:avLst/>
          </a:prstGeom>
          <a:noFill/>
          <a:ln w="12700">
            <a:solidFill>
              <a:srgbClr val="2A3B52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2697480" y="2011680"/>
            <a:ext cx="822960" cy="47548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Repo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520440" y="2249424"/>
            <a:ext cx="137160" cy="0"/>
          </a:xfrm>
          <a:prstGeom prst="line">
            <a:avLst/>
          </a:prstGeom>
          <a:noFill/>
          <a:ln w="12700">
            <a:solidFill>
              <a:srgbClr val="2A3B52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3657600" y="2011680"/>
            <a:ext cx="822960" cy="47548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Service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480560" y="2249424"/>
            <a:ext cx="137160" cy="0"/>
          </a:xfrm>
          <a:prstGeom prst="line">
            <a:avLst/>
          </a:prstGeom>
          <a:noFill/>
          <a:ln w="12700">
            <a:solidFill>
              <a:srgbClr val="2A3B52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4617720" y="2011680"/>
            <a:ext cx="822960" cy="47548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Runtime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40680" y="2249424"/>
            <a:ext cx="137160" cy="0"/>
          </a:xfrm>
          <a:prstGeom prst="line">
            <a:avLst/>
          </a:prstGeom>
          <a:noFill/>
          <a:ln w="12700">
            <a:solidFill>
              <a:srgbClr val="2A3B52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5577840" y="2011680"/>
            <a:ext cx="822960" cy="47548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UI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2960" y="2743200"/>
            <a:ext cx="539496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A8B3C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Cada camada so importa das camadas a esquerda. Validar com lint, testes estruturais, hooks e CI.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00800" y="1325880"/>
            <a:ext cx="292608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Entropy management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00800" y="1965960"/>
            <a:ext cx="1508760" cy="65836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Docs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consistency</a:t>
            </a:r>
            <a:endParaRPr lang="en-US" sz="1120" dirty="0"/>
          </a:p>
        </p:txBody>
      </p:sp>
      <p:sp>
        <p:nvSpPr>
          <p:cNvPr id="21" name="Text 19"/>
          <p:cNvSpPr/>
          <p:nvPr/>
        </p:nvSpPr>
        <p:spPr>
          <a:xfrm>
            <a:off x="8412480" y="1965960"/>
            <a:ext cx="1508760" cy="65836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Constraint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scanner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6400800" y="2971800"/>
            <a:ext cx="1508760" cy="65836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Pattern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enforcer</a:t>
            </a:r>
            <a:endParaRPr lang="en-US" sz="1120" dirty="0"/>
          </a:p>
        </p:txBody>
      </p:sp>
      <p:sp>
        <p:nvSpPr>
          <p:cNvPr id="23" name="Text 21"/>
          <p:cNvSpPr/>
          <p:nvPr/>
        </p:nvSpPr>
        <p:spPr>
          <a:xfrm>
            <a:off x="8412480" y="2971800"/>
            <a:ext cx="1508760" cy="65836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Dependency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auditor</a:t>
            </a:r>
            <a:endParaRPr lang="en-US" sz="1120" dirty="0"/>
          </a:p>
        </p:txBody>
      </p:sp>
      <p:sp>
        <p:nvSpPr>
          <p:cNvPr id="24" name="Text 22"/>
          <p:cNvSpPr/>
          <p:nvPr/>
        </p:nvSpPr>
        <p:spPr>
          <a:xfrm>
            <a:off x="6400800" y="4343400"/>
            <a:ext cx="434340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A8B3C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Rodar em PRs, releases ou agendas periodicas para manter o codigo saudavel para humanos e agentes futuros.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02920" y="652881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3C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Harness Engineering / Copilot Agents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8B3C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22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3891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Workflow recomendado para Copilot Agents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89611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8B3C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Um fluxo corporativo precisa de contexto minimo, agentes especializados e evidencia antes de fechar.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1828800"/>
            <a:ext cx="411480" cy="4114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1664208"/>
            <a:ext cx="1143000" cy="777240"/>
          </a:xfrm>
          <a:prstGeom prst="rect">
            <a:avLst/>
          </a:prstGeom>
          <a:solidFill>
            <a:srgbClr val="293548"/>
          </a:solidFill>
          <a:ln w="12700">
            <a:solidFill>
              <a:srgbClr val="29354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Task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pequena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350008" y="2048256"/>
            <a:ext cx="182880" cy="0"/>
          </a:xfrm>
          <a:prstGeom prst="line">
            <a:avLst/>
          </a:prstGeom>
          <a:noFill/>
          <a:ln w="12700">
            <a:solidFill>
              <a:srgbClr val="2A3B52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2560320" y="1828800"/>
            <a:ext cx="411480" cy="4114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063240" y="1664208"/>
            <a:ext cx="1143000" cy="777240"/>
          </a:xfrm>
          <a:prstGeom prst="rect">
            <a:avLst/>
          </a:prstGeom>
          <a:solidFill>
            <a:srgbClr val="293548"/>
          </a:solidFill>
          <a:ln w="12700">
            <a:solidFill>
              <a:srgbClr val="29354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Context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Packet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24528" y="2048256"/>
            <a:ext cx="182880" cy="0"/>
          </a:xfrm>
          <a:prstGeom prst="line">
            <a:avLst/>
          </a:prstGeom>
          <a:noFill/>
          <a:ln w="12700">
            <a:solidFill>
              <a:srgbClr val="2A3B52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4434840" y="1828800"/>
            <a:ext cx="411480" cy="41148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1664208"/>
            <a:ext cx="1143000" cy="777240"/>
          </a:xfrm>
          <a:prstGeom prst="rect">
            <a:avLst/>
          </a:prstGeom>
          <a:solidFill>
            <a:srgbClr val="293548"/>
          </a:solidFill>
          <a:ln w="12700">
            <a:solidFill>
              <a:srgbClr val="29354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Implementation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Agent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99048" y="2048256"/>
            <a:ext cx="182880" cy="0"/>
          </a:xfrm>
          <a:prstGeom prst="line">
            <a:avLst/>
          </a:prstGeom>
          <a:noFill/>
          <a:ln w="12700">
            <a:solidFill>
              <a:srgbClr val="2A3B52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6309360" y="1828800"/>
            <a:ext cx="411480" cy="41148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12280" y="1664208"/>
            <a:ext cx="1143000" cy="777240"/>
          </a:xfrm>
          <a:prstGeom prst="rect">
            <a:avLst/>
          </a:prstGeom>
          <a:solidFill>
            <a:srgbClr val="293548"/>
          </a:solidFill>
          <a:ln w="12700">
            <a:solidFill>
              <a:srgbClr val="29354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Test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Agent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973568" y="2048256"/>
            <a:ext cx="182880" cy="0"/>
          </a:xfrm>
          <a:prstGeom prst="line">
            <a:avLst/>
          </a:prstGeom>
          <a:noFill/>
          <a:ln w="12700">
            <a:solidFill>
              <a:srgbClr val="2A3B52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8183880" y="1828800"/>
            <a:ext cx="411480" cy="4114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0" y="1664208"/>
            <a:ext cx="1143000" cy="777240"/>
          </a:xfrm>
          <a:prstGeom prst="rect">
            <a:avLst/>
          </a:prstGeom>
          <a:solidFill>
            <a:srgbClr val="293548"/>
          </a:solidFill>
          <a:ln w="12700">
            <a:solidFill>
              <a:srgbClr val="29354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Reviewer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Agent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848088" y="2048256"/>
            <a:ext cx="182880" cy="0"/>
          </a:xfrm>
          <a:prstGeom prst="line">
            <a:avLst/>
          </a:prstGeom>
          <a:noFill/>
          <a:ln w="12700">
            <a:solidFill>
              <a:srgbClr val="2A3B52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10058400" y="1828800"/>
            <a:ext cx="411480" cy="41148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6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561320" y="1664208"/>
            <a:ext cx="1143000" cy="777240"/>
          </a:xfrm>
          <a:prstGeom prst="rect">
            <a:avLst/>
          </a:prstGeom>
          <a:solidFill>
            <a:srgbClr val="293548"/>
          </a:solidFill>
          <a:ln w="12700">
            <a:solidFill>
              <a:srgbClr val="29354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Orchestrator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fecha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017520" y="3246120"/>
            <a:ext cx="6035040" cy="53035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Se falhar: voltar com feedback objetivo ao implementation-agent.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9052560" y="3511296"/>
            <a:ext cx="-2514600" cy="-768096"/>
          </a:xfrm>
          <a:prstGeom prst="line">
            <a:avLst/>
          </a:prstGeom>
          <a:noFill/>
          <a:ln w="15240">
            <a:solidFill>
              <a:srgbClr val="FB923C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914400" y="4754880"/>
            <a:ext cx="996696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Estado confiavel: docs/context-map.md, ADRs, plano versionado, git diff, testes, build, lint e handoff estruturado.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02920" y="652881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3C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Harness Engineering / Copilot Agents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8B3C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23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3891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Conclusao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89611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8B3C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 ganho real vem de processo, verificacao e engenharia de contexto - nao apenas de prompts melhores.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14400" y="1417320"/>
            <a:ext cx="438912" cy="43891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54480" y="1463040"/>
            <a:ext cx="85953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Agentes devem ter escopo, contrato e permissao claros.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14400" y="2167128"/>
            <a:ext cx="438912" cy="43891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554480" y="2212848"/>
            <a:ext cx="85953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 Orchestrator deve rotear contexto, nao acumular contexto.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914400" y="2916936"/>
            <a:ext cx="438912" cy="43891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554480" y="2962656"/>
            <a:ext cx="85953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Contexto deve ser versionado em arquivos e handoffs, nao perdido no chat.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914400" y="3666744"/>
            <a:ext cx="438912" cy="43891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4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554480" y="3712464"/>
            <a:ext cx="85953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Conclusao exige evidencia: testes, lint, build, criterios e riscos.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914400" y="4416552"/>
            <a:ext cx="438912" cy="43891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5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554480" y="4462272"/>
            <a:ext cx="85953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EAF0F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Poor self-evaluation e entropia precisam de avaliadores, gates e limpeza continua.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1828800" y="5486400"/>
            <a:ext cx="8412480" cy="56692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Resumo: transforme o LLM de um gerador confiante em um trabalhador controlado por processo.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02920" y="652881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3C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Harness Engineering / Copilot Agents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8B3C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24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Liberation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iberation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Harness Engineering para Copilot Agents</dc:title>
  <dc:subject>Harness Engineering, Context Engineering e Copilot Agents</dc:subject>
  <dc:creator>OpenAI</dc:creator>
  <cp:lastModifiedBy>OpenAI</cp:lastModifiedBy>
  <cp:revision>1</cp:revision>
  <dcterms:created xsi:type="dcterms:W3CDTF">2026-04-29T04:44:07Z</dcterms:created>
  <dcterms:modified xsi:type="dcterms:W3CDTF">2026-04-29T04:44:07Z</dcterms:modified>
</cp:coreProperties>
</file>